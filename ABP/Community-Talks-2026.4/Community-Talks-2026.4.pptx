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5143500" cx="9144000"/>
  <p:notesSz cx="6858000" cy="9144000"/>
  <p:embeddedFontLst>
    <p:embeddedFont>
      <p:font typeface="Play"/>
      <p:regular r:id="rId23"/>
      <p:bold r:id="rId24"/>
    </p:embeddedFont>
    <p:embeddedFont>
      <p:font typeface="Poppins"/>
      <p:regular r:id="rId25"/>
      <p:bold r:id="rId26"/>
      <p:italic r:id="rId27"/>
      <p:boldItalic r:id="rId28"/>
    </p:embeddedFont>
    <p:embeddedFont>
      <p:font typeface="Poppins Medium"/>
      <p:regular r:id="rId29"/>
      <p:bold r:id="rId30"/>
      <p:italic r:id="rId31"/>
      <p:boldItalic r:id="rId32"/>
    </p:embeddedFont>
    <p:embeddedFont>
      <p:font typeface="Lexend"/>
      <p:regular r:id="rId33"/>
      <p:bold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Play-bold.fntdata"/><Relationship Id="rId23" Type="http://schemas.openxmlformats.org/officeDocument/2006/relationships/font" Target="fonts/Play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Poppins-bold.fntdata"/><Relationship Id="rId25" Type="http://schemas.openxmlformats.org/officeDocument/2006/relationships/font" Target="fonts/Poppins-regular.fntdata"/><Relationship Id="rId28" Type="http://schemas.openxmlformats.org/officeDocument/2006/relationships/font" Target="fonts/Poppins-boldItalic.fntdata"/><Relationship Id="rId27" Type="http://schemas.openxmlformats.org/officeDocument/2006/relationships/font" Target="fonts/Poppins-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PoppinsMedium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oppinsMedium-italic.fntdata"/><Relationship Id="rId30" Type="http://schemas.openxmlformats.org/officeDocument/2006/relationships/font" Target="fonts/PoppinsMedium-bold.fntdata"/><Relationship Id="rId11" Type="http://schemas.openxmlformats.org/officeDocument/2006/relationships/slide" Target="slides/slide5.xml"/><Relationship Id="rId33" Type="http://schemas.openxmlformats.org/officeDocument/2006/relationships/font" Target="fonts/Lexend-regular.fntdata"/><Relationship Id="rId10" Type="http://schemas.openxmlformats.org/officeDocument/2006/relationships/slide" Target="slides/slide4.xml"/><Relationship Id="rId32" Type="http://schemas.openxmlformats.org/officeDocument/2006/relationships/font" Target="fonts/PoppinsMedium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34" Type="http://schemas.openxmlformats.org/officeDocument/2006/relationships/font" Target="fonts/Lexend-bold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ef48856d36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g3ef48856d36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Per-question deck, normal slide format. Open the slide that matches the question as the conversation reaches it.</a:t>
            </a:r>
            <a:endParaRPr/>
          </a:p>
        </p:txBody>
      </p:sp>
      <p:sp>
        <p:nvSpPr>
          <p:cNvPr id="128" name="Google Shape;128;g3ef48856d36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ef36b8521b_2_9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g3ef36b8521b_2_9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Set the format: we trade questions as we go, audience brings theirs, open Q&amp;A at the end. Don't over-explain who covers what. The two-chip visual makes the point: two of us, one platform, lots of questions.</a:t>
            </a:r>
            <a:endParaRPr/>
          </a:p>
        </p:txBody>
      </p:sp>
      <p:sp>
        <p:nvSpPr>
          <p:cNvPr id="137" name="Google Shape;137;g3ef36b8521b_2_9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ef36b8521b_2_10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g3ef36b8521b_2_10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Throughline for my whole part. If Enis asks 'why a framework at all, and why ABP?' answer here: AI is fast, but fast isn't enough; a platform gives the model one architecture, conventions, and context. The three cards (Build, Support, Learn) are what I walk through next.</a:t>
            </a:r>
            <a:endParaRPr/>
          </a:p>
        </p:txBody>
      </p:sp>
      <p:sp>
        <p:nvSpPr>
          <p:cNvPr id="148" name="Google Shape;148;g3ef36b8521b_2_10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ef48856d36_0_8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g3ef48856d36_0_8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Q3. Shipped lately (10.4 + 10.5/10.6 previews): Modern Wizard &amp; React UI, AI Coding Agent, AI Management (RAG/MCP/OpenAI-compatible), framework/module updates.</a:t>
            </a:r>
            <a:endParaRPr/>
          </a:p>
        </p:txBody>
      </p:sp>
      <p:sp>
        <p:nvSpPr>
          <p:cNvPr id="159" name="Google Shape;159;g3ef48856d36_0_8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ef36b8521b_2_1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g3ef36b8521b_2_1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Section divider. The Modern Wizard isn't a new product, it's a simpler starting point built with AI-assisted development in mind. Take 'is ABP really AI-ready?' here if it comes up.</a:t>
            </a:r>
            <a:endParaRPr/>
          </a:p>
        </p:txBody>
      </p:sp>
      <p:sp>
        <p:nvSpPr>
          <p:cNvPr id="169" name="Google Shape;169;g3ef36b8521b_2_1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ef48856d36_0_1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g3ef48856d36_0_16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Section divider. The Modern Wizard isn't a new product, it's a simpler starting point built with AI-assisted development in mind. Take 'is ABP really AI-ready?' here if it comes up.</a:t>
            </a:r>
            <a:endParaRPr/>
          </a:p>
        </p:txBody>
      </p:sp>
      <p:sp>
        <p:nvSpPr>
          <p:cNvPr id="176" name="Google Shape;176;g3ef48856d36_0_16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ef36b8521b_2_1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g3ef36b8521b_2_1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 to field: 'Difference between Modern and Classic, and why does React live in Modern?' Classic = mature, all UI options, fully supported. Modern = new default, opinionated, React on the AI-friendly stack. React lives in Modern because that's the AI-first path. Also: 'Is Classic still supported?' Yes.</a:t>
            </a:r>
            <a:endParaRPr/>
          </a:p>
        </p:txBody>
      </p:sp>
      <p:sp>
        <p:nvSpPr>
          <p:cNvPr id="182" name="Google Shape;182;g3ef36b8521b_2_1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ef48856d36_0_1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g3ef48856d36_0_17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Q6. Classic is fully supported, nothing lost. Modern is an extra path, not a replacement.</a:t>
            </a:r>
            <a:endParaRPr/>
          </a:p>
        </p:txBody>
      </p:sp>
      <p:sp>
        <p:nvSpPr>
          <p:cNvPr id="191" name="Google Shape;191;g3ef48856d36_0_17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ef36b8521b_2_1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g3ef36b8521b_2_1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 to field: 'Why React now, and what practical difference does it make?' Four points: AI knows the stack, simpler mental model, hiring/extending, and the real payoff (describe a screen, agent generates into clean structure). Reassure: Classic stays, nothing built goes away.</a:t>
            </a:r>
            <a:endParaRPr/>
          </a:p>
        </p:txBody>
      </p:sp>
      <p:sp>
        <p:nvSpPr>
          <p:cNvPr id="199" name="Google Shape;199;g3ef36b8521b_2_1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ef36b8521b_2_1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g3ef36b8521b_2_1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Detail slide. The point isn't 'React', it's the exact stack: Vite, TanStack Router/Query, shadcn/ui (Radix + Tailwind), React Hook Form, Zod, TypeScript, OIDC. All heavily represented in training data. Key line: page code lives in your project, not hidden in packages, so the agent has real context.</a:t>
            </a:r>
            <a:endParaRPr/>
          </a:p>
        </p:txBody>
      </p:sp>
      <p:sp>
        <p:nvSpPr>
          <p:cNvPr id="206" name="Google Shape;206;g3ef36b8521b_2_1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ef36b8521b_2_1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g3ef36b8521b_2_15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Detail slide. A modern React solution has two surfaces: your own SPA (pages in react/src/pages) and the ready-made ABP Admin Console (Volo.Abp.AdminConsole) for users/roles/settings/tenants. Show the one-line CLI command; note ABP Studio's Modern wizard wires ports, OIDC, theme and Admin Console for you. Demo hook if screen-sharing.</a:t>
            </a:r>
            <a:endParaRPr/>
          </a:p>
        </p:txBody>
      </p:sp>
      <p:sp>
        <p:nvSpPr>
          <p:cNvPr id="230" name="Google Shape;230;g3ef36b8521b_2_15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ef36b8521b_2_1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" name="Google Shape;239;g3ef36b8521b_2_16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Section divider. Support is changing shape in the AI era, but the goal is the same: get you unblocked fast. Tee up the two support questions.</a:t>
            </a:r>
            <a:endParaRPr/>
          </a:p>
        </p:txBody>
      </p:sp>
      <p:sp>
        <p:nvSpPr>
          <p:cNvPr id="240" name="Google Shape;240;g3ef36b8521b_2_16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ef36b8521b_2_1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g3ef36b8521b_2_17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 to field: 'Is support going AI-only? Will a real person be there?' Walk the 3-step flow: AI assistant first (instant, any hour) -&gt; ABP team engineer -&gt; consultancy/1:1. Headline: AI handles the fast common stuff so the team has more time for the hard ones. A real person owns your question end to end.</a:t>
            </a:r>
            <a:endParaRPr/>
          </a:p>
        </p:txBody>
      </p:sp>
      <p:sp>
        <p:nvSpPr>
          <p:cNvPr id="247" name="Google Shape;247;g3ef36b8521b_2_17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ef48856d36_0_4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g3ef48856d36_0_4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Section divider. Support is changing shape in the AI era, but the goal is the same: get you unblocked fast. Tee up the two support questions.</a:t>
            </a:r>
            <a:endParaRPr/>
          </a:p>
        </p:txBody>
      </p:sp>
      <p:sp>
        <p:nvSpPr>
          <p:cNvPr id="260" name="Google Shape;260;g3ef48856d36_0_43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ef48856d36_0_4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g3ef48856d36_0_4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Q13. New products too, e.g. DailyTalking. Same philosophy: build what people need. Enis introduces it.</a:t>
            </a:r>
            <a:endParaRPr/>
          </a:p>
        </p:txBody>
      </p:sp>
      <p:sp>
        <p:nvSpPr>
          <p:cNvPr id="267" name="Google Shape;267;g3ef48856d36_0_42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ef36b8521b_2_20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g3ef36b8521b_2_20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Hand to Enis: 'What else should we expect, new products?' is his cue (DailyTalking) plus the agent, modules, trainings/bootcamp. Then open the floor for Q&amp;A, keep it tight, 15-20 minutes.</a:t>
            </a:r>
            <a:endParaRPr/>
          </a:p>
        </p:txBody>
      </p:sp>
      <p:sp>
        <p:nvSpPr>
          <p:cNvPr id="273" name="Google Shape;273;g3ef36b8521b_2_20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şlık Slaydı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şlık ve İçerik" type="obj">
  <p:cSld name="OBJEC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ölüm Üst Bilgisi" type="secHead">
  <p:cSld name="SECTION_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400"/>
              <a:buNone/>
              <a:defRPr sz="14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İki İçerik" type="twoObj">
  <p:cSld name="TWO_OBJECTS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arşılaştırma" type="twoTxTwoObj">
  <p:cSld name="TWO_OBJECTS_WITH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4" name="Google Shape;84;p18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6" name="Google Shape;86;p18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7" name="Google Shape;87;p1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8" name="Google Shape;88;p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9" name="Google Shape;89;p1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Yalnızca Başlık" type="titleOnly">
  <p:cSld name="TITLE_ONLY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ş" type="blank">
  <p:cSld name="BLANK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şlıklı İçerik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şlıklı Resim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şlık ve Dikey Metin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key Başlık ve Metin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  <a:defRPr b="0" i="0" sz="33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hyperlink" Target="http://drive.google.com/file/d/1vdqfqfQKkKVtisP_4GAwTAHimmCHiuZ0/view" TargetMode="External"/><Relationship Id="rId5" Type="http://schemas.openxmlformats.org/officeDocument/2006/relationships/image" Target="../media/image3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7869" y="838426"/>
            <a:ext cx="1797664" cy="481948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5"/>
          <p:cNvSpPr txBox="1"/>
          <p:nvPr/>
        </p:nvSpPr>
        <p:spPr>
          <a:xfrm>
            <a:off x="769385" y="1478711"/>
            <a:ext cx="7758900" cy="14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Lexend"/>
              <a:buNone/>
            </a:pPr>
            <a:r>
              <a:rPr b="1" i="0" lang="en" sz="4100" u="none" cap="none" strike="noStrik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State of ABP</a:t>
            </a:r>
            <a:endParaRPr b="1" sz="41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Lexend"/>
              <a:buNone/>
            </a:pPr>
            <a:r>
              <a:rPr b="1" lang="en" sz="305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How the Platform is Evolving in the AI</a:t>
            </a:r>
            <a:endParaRPr sz="100"/>
          </a:p>
        </p:txBody>
      </p:sp>
      <p:sp>
        <p:nvSpPr>
          <p:cNvPr id="132" name="Google Shape;132;p25"/>
          <p:cNvSpPr txBox="1"/>
          <p:nvPr/>
        </p:nvSpPr>
        <p:spPr>
          <a:xfrm>
            <a:off x="837865" y="3211063"/>
            <a:ext cx="48729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Poppins Medium"/>
              <a:buNone/>
            </a:pPr>
            <a:r>
              <a:rPr b="0" i="0" lang="en" sz="2100" u="none" cap="none" strike="noStrik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Engincan Veske &amp; Enis Necipoğlu</a:t>
            </a:r>
            <a:endParaRPr b="0" i="0" sz="2100" u="none" cap="none" strike="noStrike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33" name="Google Shape;133;p25"/>
          <p:cNvSpPr txBox="1"/>
          <p:nvPr/>
        </p:nvSpPr>
        <p:spPr>
          <a:xfrm>
            <a:off x="837941" y="3576914"/>
            <a:ext cx="48729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1B8C4"/>
              </a:buClr>
              <a:buSzPts val="1400"/>
              <a:buFont typeface="Poppins"/>
              <a:buNone/>
            </a:pPr>
            <a:r>
              <a:rPr b="0" i="0" lang="en" sz="1400" u="none" cap="none" strike="noStrike">
                <a:solidFill>
                  <a:srgbClr val="B1B8C4"/>
                </a:solidFill>
                <a:latin typeface="Poppins"/>
                <a:ea typeface="Poppins"/>
                <a:cs typeface="Poppins"/>
                <a:sym typeface="Poppins"/>
              </a:rPr>
              <a:t>Community Talks 2026.4 · Volosoft</a:t>
            </a:r>
            <a:endParaRPr b="0" i="0" sz="1400" u="none" cap="none" strike="noStrike">
              <a:solidFill>
                <a:srgbClr val="B1B8C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6"/>
          <p:cNvSpPr txBox="1"/>
          <p:nvPr/>
        </p:nvSpPr>
        <p:spPr>
          <a:xfrm>
            <a:off x="341887" y="285000"/>
            <a:ext cx="8429974" cy="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Lexend"/>
              <a:buNone/>
            </a:pPr>
            <a:r>
              <a:rPr b="1" lang="en" sz="27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How tonight works</a:t>
            </a:r>
            <a:endParaRPr sz="1100"/>
          </a:p>
        </p:txBody>
      </p:sp>
      <p:sp>
        <p:nvSpPr>
          <p:cNvPr id="140" name="Google Shape;140;p26"/>
          <p:cNvSpPr txBox="1"/>
          <p:nvPr/>
        </p:nvSpPr>
        <p:spPr>
          <a:xfrm>
            <a:off x="341875" y="922500"/>
            <a:ext cx="8430000" cy="12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1B8C4"/>
              </a:buClr>
              <a:buSzPts val="1400"/>
              <a:buFont typeface="Poppins"/>
              <a:buNone/>
            </a:pPr>
            <a:r>
              <a:rPr lang="en" sz="1400">
                <a:solidFill>
                  <a:srgbClr val="B1B8C4"/>
                </a:solidFill>
                <a:latin typeface="Poppins"/>
                <a:ea typeface="Poppins"/>
                <a:cs typeface="Poppins"/>
                <a:sym typeface="Poppins"/>
              </a:rPr>
              <a:t>AI is changing how software gets built. Tonight Enis and I step back and talk honestly about where ABP fits, and where we are taking it.</a:t>
            </a:r>
            <a:endParaRPr sz="1400">
              <a:solidFill>
                <a:srgbClr val="B1B8C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1B8C4"/>
              </a:buClr>
              <a:buSzPts val="1400"/>
              <a:buFont typeface="Poppins"/>
              <a:buNone/>
            </a:pPr>
            <a:r>
              <a:t/>
            </a:r>
            <a:endParaRPr>
              <a:solidFill>
                <a:srgbClr val="B1B8C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B1B8C4"/>
              </a:buClr>
              <a:buSzPts val="1400"/>
              <a:buFont typeface="Poppins"/>
              <a:buNone/>
            </a:pPr>
            <a:r>
              <a:rPr lang="en" sz="1400">
                <a:solidFill>
                  <a:srgbClr val="B1B8C4"/>
                </a:solidFill>
                <a:latin typeface="Poppins"/>
                <a:ea typeface="Poppins"/>
                <a:cs typeface="Poppins"/>
                <a:sym typeface="Poppins"/>
              </a:rPr>
              <a:t>Conversation format: we trade questions as we go. Bring yours, we keep open Q&amp;A for the end.</a:t>
            </a:r>
            <a:endParaRPr sz="1100"/>
          </a:p>
        </p:txBody>
      </p:sp>
      <p:sp>
        <p:nvSpPr>
          <p:cNvPr id="141" name="Google Shape;141;p26"/>
          <p:cNvSpPr/>
          <p:nvPr/>
        </p:nvSpPr>
        <p:spPr>
          <a:xfrm>
            <a:off x="1800000" y="2625000"/>
            <a:ext cx="2025000" cy="675000"/>
          </a:xfrm>
          <a:prstGeom prst="roundRect">
            <a:avLst>
              <a:gd fmla="val 18000" name="adj"/>
            </a:avLst>
          </a:prstGeom>
          <a:solidFill>
            <a:srgbClr val="20242C"/>
          </a:solidFill>
          <a:ln cap="flat" cmpd="sng" w="19050">
            <a:solidFill>
              <a:srgbClr val="E83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"/>
              <a:buNone/>
            </a:pPr>
            <a:r>
              <a:rPr b="1" lang="en" sz="14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Engincan</a:t>
            </a:r>
            <a:endParaRPr sz="1100"/>
          </a:p>
        </p:txBody>
      </p:sp>
      <p:sp>
        <p:nvSpPr>
          <p:cNvPr id="142" name="Google Shape;142;p26"/>
          <p:cNvSpPr/>
          <p:nvPr/>
        </p:nvSpPr>
        <p:spPr>
          <a:xfrm>
            <a:off x="5319000" y="2625000"/>
            <a:ext cx="2025000" cy="675000"/>
          </a:xfrm>
          <a:prstGeom prst="roundRect">
            <a:avLst>
              <a:gd fmla="val 18000" name="adj"/>
            </a:avLst>
          </a:prstGeom>
          <a:solidFill>
            <a:srgbClr val="20242C"/>
          </a:solidFill>
          <a:ln cap="flat" cmpd="sng" w="19050">
            <a:solidFill>
              <a:srgbClr val="13B5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"/>
              <a:buNone/>
            </a:pPr>
            <a:r>
              <a:rPr b="1" lang="en" sz="14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Enis</a:t>
            </a:r>
            <a:endParaRPr sz="1100"/>
          </a:p>
        </p:txBody>
      </p:sp>
      <p:sp>
        <p:nvSpPr>
          <p:cNvPr id="143" name="Google Shape;143;p26"/>
          <p:cNvSpPr/>
          <p:nvPr/>
        </p:nvSpPr>
        <p:spPr>
          <a:xfrm>
            <a:off x="3937500" y="2790000"/>
            <a:ext cx="1200000" cy="3450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rgbClr val="6B7280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26"/>
          <p:cNvSpPr/>
          <p:nvPr/>
        </p:nvSpPr>
        <p:spPr>
          <a:xfrm>
            <a:off x="3822000" y="3562500"/>
            <a:ext cx="1500000" cy="465000"/>
          </a:xfrm>
          <a:prstGeom prst="roundRect">
            <a:avLst>
              <a:gd fmla="val 26000" name="adj"/>
            </a:avLst>
          </a:prstGeom>
          <a:solidFill>
            <a:srgbClr val="E8309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ppins"/>
              <a:buNone/>
            </a:pPr>
            <a:r>
              <a:rPr b="1" lang="en"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Open Q&amp;A</a:t>
            </a:r>
            <a:endParaRPr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7"/>
          <p:cNvSpPr txBox="1"/>
          <p:nvPr/>
        </p:nvSpPr>
        <p:spPr>
          <a:xfrm>
            <a:off x="341887" y="285000"/>
            <a:ext cx="8429974" cy="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Lexend"/>
              <a:buNone/>
            </a:pPr>
            <a:r>
              <a:rPr b="1" lang="en" sz="27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Why a platform still matters in the AI era?</a:t>
            </a:r>
            <a:endParaRPr sz="1100"/>
          </a:p>
        </p:txBody>
      </p:sp>
      <p:sp>
        <p:nvSpPr>
          <p:cNvPr id="151" name="Google Shape;151;p27"/>
          <p:cNvSpPr txBox="1"/>
          <p:nvPr/>
        </p:nvSpPr>
        <p:spPr>
          <a:xfrm>
            <a:off x="341885" y="1035000"/>
            <a:ext cx="8429973" cy="1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</a:pPr>
            <a:r>
              <a:rPr b="1" lang="en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AI writes code fast. The real question is whether it writes the right code, in the right place, the same way every time.</a:t>
            </a:r>
            <a:endParaRPr sz="1100"/>
          </a:p>
        </p:txBody>
      </p:sp>
      <p:sp>
        <p:nvSpPr>
          <p:cNvPr id="152" name="Google Shape;152;p27"/>
          <p:cNvSpPr txBox="1"/>
          <p:nvPr/>
        </p:nvSpPr>
        <p:spPr>
          <a:xfrm>
            <a:off x="341885" y="2287500"/>
            <a:ext cx="8429973" cy="8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1B8C4"/>
              </a:buClr>
              <a:buSzPts val="1300"/>
              <a:buFont typeface="Poppins"/>
              <a:buNone/>
            </a:pPr>
            <a:r>
              <a:rPr lang="en" sz="1300">
                <a:solidFill>
                  <a:srgbClr val="B1B8C4"/>
                </a:solidFill>
                <a:latin typeface="Poppins"/>
                <a:ea typeface="Poppins"/>
                <a:cs typeface="Poppins"/>
                <a:sym typeface="Poppins"/>
              </a:rPr>
              <a:t>A platform gives the model structure to work inside: one architecture, clear conventions, and the context it needs. That is what turns “fast” into fast, correct, and safe to ship.</a:t>
            </a:r>
            <a:endParaRPr sz="1100"/>
          </a:p>
        </p:txBody>
      </p:sp>
      <p:sp>
        <p:nvSpPr>
          <p:cNvPr id="153" name="Google Shape;153;p27"/>
          <p:cNvSpPr/>
          <p:nvPr/>
        </p:nvSpPr>
        <p:spPr>
          <a:xfrm>
            <a:off x="341885" y="3187500"/>
            <a:ext cx="2602500" cy="1612500"/>
          </a:xfrm>
          <a:prstGeom prst="roundRect">
            <a:avLst>
              <a:gd fmla="val 9000" name="adj"/>
            </a:avLst>
          </a:prstGeom>
          <a:solidFill>
            <a:srgbClr val="20242C"/>
          </a:solidFill>
          <a:ln>
            <a:noFill/>
          </a:ln>
          <a:effectLst>
            <a:outerShdw blurRad="60000" rotWithShape="0" dir="5400000" dist="20000">
              <a:srgbClr val="000000">
                <a:alpha val="38039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3090"/>
              </a:buClr>
              <a:buSzPts val="1700"/>
              <a:buFont typeface="Lexend"/>
              <a:buNone/>
            </a:pPr>
            <a:r>
              <a:rPr b="1" lang="en" sz="1700">
                <a:solidFill>
                  <a:srgbClr val="E83090"/>
                </a:solidFill>
                <a:latin typeface="Lexend"/>
                <a:ea typeface="Lexend"/>
                <a:cs typeface="Lexend"/>
                <a:sym typeface="Lexend"/>
              </a:rPr>
              <a:t>Build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B1B8C4"/>
              </a:buClr>
              <a:buSzPts val="1100"/>
              <a:buFont typeface="Poppins"/>
              <a:buNone/>
            </a:pPr>
            <a:r>
              <a:rPr lang="en" sz="1100">
                <a:solidFill>
                  <a:srgbClr val="B1B8C4"/>
                </a:solidFill>
                <a:latin typeface="Poppins"/>
                <a:ea typeface="Poppins"/>
                <a:cs typeface="Poppins"/>
                <a:sym typeface="Poppins"/>
              </a:rPr>
              <a:t>Modern Wizard, React UI, and an agent that knows your project.</a:t>
            </a:r>
            <a:endParaRPr sz="1100"/>
          </a:p>
        </p:txBody>
      </p:sp>
      <p:sp>
        <p:nvSpPr>
          <p:cNvPr id="154" name="Google Shape;154;p27"/>
          <p:cNvSpPr/>
          <p:nvPr/>
        </p:nvSpPr>
        <p:spPr>
          <a:xfrm>
            <a:off x="3270808" y="3187500"/>
            <a:ext cx="2602500" cy="1612500"/>
          </a:xfrm>
          <a:prstGeom prst="roundRect">
            <a:avLst>
              <a:gd fmla="val 9000" name="adj"/>
            </a:avLst>
          </a:prstGeom>
          <a:solidFill>
            <a:srgbClr val="20242C"/>
          </a:solidFill>
          <a:ln>
            <a:noFill/>
          </a:ln>
          <a:effectLst>
            <a:outerShdw blurRad="60000" rotWithShape="0" dir="5400000" dist="20000">
              <a:srgbClr val="000000">
                <a:alpha val="38039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B5A0"/>
              </a:buClr>
              <a:buSzPts val="1700"/>
              <a:buFont typeface="Lexend"/>
              <a:buNone/>
            </a:pPr>
            <a:r>
              <a:rPr b="1" lang="en" sz="1700">
                <a:solidFill>
                  <a:srgbClr val="13B5A0"/>
                </a:solidFill>
                <a:latin typeface="Lexend"/>
                <a:ea typeface="Lexend"/>
                <a:cs typeface="Lexend"/>
                <a:sym typeface="Lexend"/>
              </a:rPr>
              <a:t>Support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B1B8C4"/>
              </a:buClr>
              <a:buSzPts val="1100"/>
              <a:buFont typeface="Poppins"/>
              <a:buNone/>
            </a:pPr>
            <a:r>
              <a:rPr lang="en" sz="1100">
                <a:solidFill>
                  <a:srgbClr val="B1B8C4"/>
                </a:solidFill>
                <a:latin typeface="Poppins"/>
                <a:ea typeface="Poppins"/>
                <a:cs typeface="Poppins"/>
                <a:sym typeface="Poppins"/>
              </a:rPr>
              <a:t>AI first, then the engineers who actually build ABP.</a:t>
            </a:r>
            <a:endParaRPr sz="1100"/>
          </a:p>
        </p:txBody>
      </p:sp>
      <p:sp>
        <p:nvSpPr>
          <p:cNvPr id="155" name="Google Shape;155;p27"/>
          <p:cNvSpPr/>
          <p:nvPr/>
        </p:nvSpPr>
        <p:spPr>
          <a:xfrm>
            <a:off x="6199731" y="3187500"/>
            <a:ext cx="2602500" cy="1612500"/>
          </a:xfrm>
          <a:prstGeom prst="roundRect">
            <a:avLst>
              <a:gd fmla="val 9000" name="adj"/>
            </a:avLst>
          </a:prstGeom>
          <a:solidFill>
            <a:srgbClr val="20242C"/>
          </a:solidFill>
          <a:ln>
            <a:noFill/>
          </a:ln>
          <a:effectLst>
            <a:outerShdw blurRad="60000" rotWithShape="0" dir="5400000" dist="20000">
              <a:srgbClr val="000000">
                <a:alpha val="38039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"/>
              <a:buNone/>
            </a:pPr>
            <a:r>
              <a:rPr b="1" lang="en" sz="17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Learn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B1B8C4"/>
              </a:buClr>
              <a:buSzPts val="1100"/>
              <a:buFont typeface="Poppins"/>
              <a:buNone/>
            </a:pPr>
            <a:r>
              <a:rPr lang="en" sz="1100">
                <a:solidFill>
                  <a:srgbClr val="B1B8C4"/>
                </a:solidFill>
                <a:latin typeface="Poppins"/>
                <a:ea typeface="Poppins"/>
                <a:cs typeface="Poppins"/>
                <a:sym typeface="Poppins"/>
              </a:rPr>
              <a:t>Free live webinars and hands-on, practical trainings.</a:t>
            </a:r>
            <a:endParaRPr sz="11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8"/>
          <p:cNvSpPr txBox="1"/>
          <p:nvPr/>
        </p:nvSpPr>
        <p:spPr>
          <a:xfrm>
            <a:off x="341887" y="285000"/>
            <a:ext cx="84300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Lexend"/>
              <a:buNone/>
            </a:pPr>
            <a:r>
              <a:rPr b="1" lang="en" sz="2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What we have shipped lately</a:t>
            </a:r>
            <a:endParaRPr sz="1100"/>
          </a:p>
        </p:txBody>
      </p:sp>
      <p:sp>
        <p:nvSpPr>
          <p:cNvPr id="162" name="Google Shape;162;p28"/>
          <p:cNvSpPr/>
          <p:nvPr/>
        </p:nvSpPr>
        <p:spPr>
          <a:xfrm>
            <a:off x="4789635" y="1275000"/>
            <a:ext cx="4012500" cy="1425000"/>
          </a:xfrm>
          <a:prstGeom prst="roundRect">
            <a:avLst>
              <a:gd fmla="val 8000" name="adj"/>
            </a:avLst>
          </a:prstGeom>
          <a:solidFill>
            <a:srgbClr val="20242C"/>
          </a:solidFill>
          <a:ln cap="flat" cmpd="sng" w="19050">
            <a:solidFill>
              <a:srgbClr val="E83090"/>
            </a:solidFill>
            <a:prstDash val="solid"/>
            <a:round/>
            <a:headEnd len="sm" w="sm" type="none"/>
            <a:tailEnd len="sm" w="sm" type="none"/>
          </a:ln>
          <a:effectLst>
            <a:outerShdw blurRad="60000" rotWithShape="0" dir="5400000" dist="20000">
              <a:srgbClr val="000000">
                <a:alpha val="38040"/>
              </a:srgbClr>
            </a:outerShdw>
          </a:effectLst>
        </p:spPr>
        <p:txBody>
          <a:bodyPr anchorCtr="0" anchor="t" bIns="48525" lIns="88825" spcFirstLastPara="1" rIns="88825" wrap="square" tIns="485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"/>
              <a:buNone/>
            </a:pPr>
            <a:r>
              <a:rPr b="1" lang="en" sz="14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Modern Wizard &amp; React UI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B1B8C4"/>
              </a:buClr>
              <a:buSzPts val="1100"/>
              <a:buFont typeface="Poppins"/>
              <a:buNone/>
            </a:pPr>
            <a:r>
              <a:rPr lang="en" sz="1100">
                <a:solidFill>
                  <a:srgbClr val="B1B8C4"/>
                </a:solidFill>
                <a:latin typeface="Poppins"/>
                <a:ea typeface="Poppins"/>
                <a:cs typeface="Poppins"/>
                <a:sym typeface="Poppins"/>
              </a:rPr>
              <a:t>A simpler, AI-friendly way to start, with the new React UI.</a:t>
            </a:r>
            <a:endParaRPr sz="1100"/>
          </a:p>
        </p:txBody>
      </p:sp>
      <p:sp>
        <p:nvSpPr>
          <p:cNvPr id="163" name="Google Shape;163;p28"/>
          <p:cNvSpPr/>
          <p:nvPr/>
        </p:nvSpPr>
        <p:spPr>
          <a:xfrm>
            <a:off x="341865" y="1275000"/>
            <a:ext cx="4012500" cy="1425000"/>
          </a:xfrm>
          <a:prstGeom prst="roundRect">
            <a:avLst>
              <a:gd fmla="val 8000" name="adj"/>
            </a:avLst>
          </a:prstGeom>
          <a:solidFill>
            <a:srgbClr val="20242C"/>
          </a:solidFill>
          <a:ln cap="flat" cmpd="sng" w="19050">
            <a:solidFill>
              <a:srgbClr val="13B5A0"/>
            </a:solidFill>
            <a:prstDash val="solid"/>
            <a:round/>
            <a:headEnd len="sm" w="sm" type="none"/>
            <a:tailEnd len="sm" w="sm" type="none"/>
          </a:ln>
          <a:effectLst>
            <a:outerShdw blurRad="60000" rotWithShape="0" dir="5400000" dist="20000">
              <a:srgbClr val="000000">
                <a:alpha val="38040"/>
              </a:srgbClr>
            </a:outerShdw>
          </a:effectLst>
        </p:spPr>
        <p:txBody>
          <a:bodyPr anchorCtr="0" anchor="t" bIns="48525" lIns="88825" spcFirstLastPara="1" rIns="88825" wrap="square" tIns="485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"/>
              <a:buNone/>
            </a:pPr>
            <a:r>
              <a:rPr b="1" lang="en" sz="14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ABP Studio AI Coding Agent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B1B8C4"/>
              </a:buClr>
              <a:buSzPts val="1100"/>
              <a:buFont typeface="Poppins"/>
              <a:buNone/>
            </a:pPr>
            <a:r>
              <a:rPr lang="en" sz="1100">
                <a:solidFill>
                  <a:srgbClr val="B1B8C4"/>
                </a:solidFill>
                <a:latin typeface="Poppins"/>
                <a:ea typeface="Poppins"/>
                <a:cs typeface="Poppins"/>
                <a:sym typeface="Poppins"/>
              </a:rPr>
              <a:t>A solution-aware agent built natively for ABP.</a:t>
            </a:r>
            <a:endParaRPr sz="1100"/>
          </a:p>
        </p:txBody>
      </p:sp>
      <p:sp>
        <p:nvSpPr>
          <p:cNvPr id="164" name="Google Shape;164;p28"/>
          <p:cNvSpPr/>
          <p:nvPr/>
        </p:nvSpPr>
        <p:spPr>
          <a:xfrm>
            <a:off x="341885" y="2887500"/>
            <a:ext cx="4012500" cy="1425000"/>
          </a:xfrm>
          <a:prstGeom prst="roundRect">
            <a:avLst>
              <a:gd fmla="val 8000" name="adj"/>
            </a:avLst>
          </a:prstGeom>
          <a:solidFill>
            <a:srgbClr val="20242C"/>
          </a:solidFill>
          <a:ln cap="flat" cmpd="sng" w="19050">
            <a:solidFill>
              <a:srgbClr val="3A82F6"/>
            </a:solidFill>
            <a:prstDash val="solid"/>
            <a:round/>
            <a:headEnd len="sm" w="sm" type="none"/>
            <a:tailEnd len="sm" w="sm" type="none"/>
          </a:ln>
          <a:effectLst>
            <a:outerShdw blurRad="60000" rotWithShape="0" dir="5400000" dist="20000">
              <a:srgbClr val="000000">
                <a:alpha val="38040"/>
              </a:srgbClr>
            </a:outerShdw>
          </a:effectLst>
        </p:spPr>
        <p:txBody>
          <a:bodyPr anchorCtr="0" anchor="t" bIns="48525" lIns="88825" spcFirstLastPara="1" rIns="88825" wrap="square" tIns="485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"/>
              <a:buNone/>
            </a:pPr>
            <a:r>
              <a:rPr b="1" lang="en" sz="14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AI Management module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B1B8C4"/>
              </a:buClr>
              <a:buSzPts val="1100"/>
              <a:buFont typeface="Poppins"/>
              <a:buNone/>
            </a:pPr>
            <a:r>
              <a:rPr lang="en" sz="1100">
                <a:solidFill>
                  <a:srgbClr val="B1B8C4"/>
                </a:solidFill>
                <a:latin typeface="Poppins"/>
                <a:ea typeface="Poppins"/>
                <a:cs typeface="Poppins"/>
                <a:sym typeface="Poppins"/>
              </a:rPr>
              <a:t>RAG, MCP, and OpenAI-compatible endpoints for AI-integrated apps.</a:t>
            </a:r>
            <a:endParaRPr sz="1100"/>
          </a:p>
        </p:txBody>
      </p:sp>
      <p:sp>
        <p:nvSpPr>
          <p:cNvPr id="165" name="Google Shape;165;p28"/>
          <p:cNvSpPr/>
          <p:nvPr/>
        </p:nvSpPr>
        <p:spPr>
          <a:xfrm>
            <a:off x="4789616" y="2887500"/>
            <a:ext cx="4012500" cy="1425000"/>
          </a:xfrm>
          <a:prstGeom prst="roundRect">
            <a:avLst>
              <a:gd fmla="val 8000" name="adj"/>
            </a:avLst>
          </a:prstGeom>
          <a:solidFill>
            <a:srgbClr val="20242C"/>
          </a:solidFill>
          <a:ln cap="flat" cmpd="sng" w="19050">
            <a:solidFill>
              <a:srgbClr val="6B7280"/>
            </a:solidFill>
            <a:prstDash val="solid"/>
            <a:round/>
            <a:headEnd len="sm" w="sm" type="none"/>
            <a:tailEnd len="sm" w="sm" type="none"/>
          </a:ln>
          <a:effectLst>
            <a:outerShdw blurRad="60000" rotWithShape="0" dir="5400000" dist="20000">
              <a:srgbClr val="000000">
                <a:alpha val="38040"/>
              </a:srgbClr>
            </a:outerShdw>
          </a:effectLst>
        </p:spPr>
        <p:txBody>
          <a:bodyPr anchorCtr="0" anchor="t" bIns="48525" lIns="88825" spcFirstLastPara="1" rIns="88825" wrap="square" tIns="485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"/>
              <a:buNone/>
            </a:pPr>
            <a:r>
              <a:rPr b="1" lang="en" sz="14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Framework &amp; module updates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B1B8C4"/>
              </a:buClr>
              <a:buSzPts val="1100"/>
              <a:buFont typeface="Poppins"/>
              <a:buNone/>
            </a:pPr>
            <a:r>
              <a:rPr lang="en" sz="1100">
                <a:solidFill>
                  <a:srgbClr val="B1B8C4"/>
                </a:solidFill>
                <a:latin typeface="Poppins"/>
                <a:ea typeface="Poppins"/>
                <a:cs typeface="Poppins"/>
                <a:sym typeface="Poppins"/>
              </a:rPr>
              <a:t>Ongoing improvements across Identity, SaaS, and more, every release…</a:t>
            </a:r>
            <a:endParaRPr sz="11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9"/>
          <p:cNvSpPr txBox="1"/>
          <p:nvPr/>
        </p:nvSpPr>
        <p:spPr>
          <a:xfrm>
            <a:off x="357024" y="1709250"/>
            <a:ext cx="84300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Lexend"/>
              <a:buNone/>
            </a:pPr>
            <a:r>
              <a:rPr b="1" lang="en" sz="33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The Modern Wizard - React UI </a:t>
            </a:r>
            <a:endParaRPr b="1" sz="33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Lexend"/>
              <a:buNone/>
            </a:pPr>
            <a:r>
              <a:rPr b="1" lang="en" sz="33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&amp; the mental shift</a:t>
            </a:r>
            <a:endParaRPr sz="1100"/>
          </a:p>
        </p:txBody>
      </p:sp>
      <p:sp>
        <p:nvSpPr>
          <p:cNvPr id="172" name="Google Shape;172;p29"/>
          <p:cNvSpPr txBox="1"/>
          <p:nvPr/>
        </p:nvSpPr>
        <p:spPr>
          <a:xfrm>
            <a:off x="367638" y="2834250"/>
            <a:ext cx="82500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1B8C4"/>
              </a:buClr>
              <a:buSzPts val="1400"/>
              <a:buFont typeface="Poppins"/>
              <a:buNone/>
            </a:pPr>
            <a:r>
              <a:rPr lang="en" sz="1400">
                <a:solidFill>
                  <a:srgbClr val="B1B8C4"/>
                </a:solidFill>
                <a:latin typeface="Poppins"/>
                <a:ea typeface="Poppins"/>
                <a:cs typeface="Poppins"/>
                <a:sym typeface="Poppins"/>
              </a:rPr>
              <a:t>Same ABP. A simpler, AI-friendly place to start.</a:t>
            </a:r>
            <a:endParaRPr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81163" y="295275"/>
            <a:ext cx="5781675" cy="45529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1"/>
          <p:cNvSpPr txBox="1"/>
          <p:nvPr/>
        </p:nvSpPr>
        <p:spPr>
          <a:xfrm>
            <a:off x="341887" y="285000"/>
            <a:ext cx="8429974" cy="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Lexend"/>
              <a:buNone/>
            </a:pPr>
            <a:r>
              <a:rPr b="1" lang="en" sz="27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Classic vs. Modern Wizard</a:t>
            </a:r>
            <a:endParaRPr sz="1100"/>
          </a:p>
        </p:txBody>
      </p:sp>
      <p:sp>
        <p:nvSpPr>
          <p:cNvPr id="185" name="Google Shape;185;p31"/>
          <p:cNvSpPr/>
          <p:nvPr/>
        </p:nvSpPr>
        <p:spPr>
          <a:xfrm>
            <a:off x="341885" y="975000"/>
            <a:ext cx="4012500" cy="3225000"/>
          </a:xfrm>
          <a:prstGeom prst="roundRect">
            <a:avLst>
              <a:gd fmla="val 7000" name="adj"/>
            </a:avLst>
          </a:prstGeom>
          <a:solidFill>
            <a:srgbClr val="20242C"/>
          </a:solidFill>
          <a:ln cap="flat" cmpd="sng" w="19050">
            <a:solidFill>
              <a:srgbClr val="6B7280"/>
            </a:solidFill>
            <a:prstDash val="solid"/>
            <a:round/>
            <a:headEnd len="sm" w="sm" type="none"/>
            <a:tailEnd len="sm" w="sm" type="none"/>
          </a:ln>
          <a:effectLst>
            <a:outerShdw blurRad="60000" rotWithShape="0" dir="5400000" dist="20000">
              <a:srgbClr val="000000">
                <a:alpha val="38039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"/>
              <a:buNone/>
            </a:pPr>
            <a:r>
              <a:rPr b="1" lang="en" sz="17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Classic Wizard</a:t>
            </a:r>
            <a:endParaRPr sz="1100"/>
          </a:p>
          <a:p>
            <a:pPr indent="-215900" lvl="0" marL="215900" marR="0" rtl="0" algn="l">
              <a:spcBef>
                <a:spcPts val="500"/>
              </a:spcBef>
              <a:spcAft>
                <a:spcPts val="0"/>
              </a:spcAft>
              <a:buClr>
                <a:srgbClr val="E83090"/>
              </a:buClr>
              <a:buSzPts val="1200"/>
              <a:buFont typeface="Arial"/>
              <a:buChar char="•"/>
            </a:pPr>
            <a:r>
              <a:rPr lang="en" sz="1200">
                <a:solidFill>
                  <a:srgbClr val="B1B8C4"/>
                </a:solidFill>
                <a:latin typeface="Poppins"/>
                <a:ea typeface="Poppins"/>
                <a:cs typeface="Poppins"/>
                <a:sym typeface="Poppins"/>
              </a:rPr>
              <a:t>Mature, with the full set of UI options (MVC, Angular, Blazor </a:t>
            </a:r>
            <a:r>
              <a:rPr lang="en" sz="900">
                <a:solidFill>
                  <a:srgbClr val="B1B8C4"/>
                </a:solidFill>
                <a:latin typeface="Poppins"/>
                <a:ea typeface="Poppins"/>
                <a:cs typeface="Poppins"/>
                <a:sym typeface="Poppins"/>
              </a:rPr>
              <a:t>(and variations)...</a:t>
            </a:r>
            <a:r>
              <a:rPr lang="en" sz="1200">
                <a:solidFill>
                  <a:srgbClr val="B1B8C4"/>
                </a:solidFill>
                <a:latin typeface="Poppins"/>
                <a:ea typeface="Poppins"/>
                <a:cs typeface="Poppins"/>
                <a:sym typeface="Poppins"/>
              </a:rPr>
              <a:t>)</a:t>
            </a:r>
            <a:endParaRPr sz="1100"/>
          </a:p>
          <a:p>
            <a:pPr indent="-215900" lvl="0" marL="215900" marR="0" rtl="0" algn="l">
              <a:spcBef>
                <a:spcPts val="400"/>
              </a:spcBef>
              <a:spcAft>
                <a:spcPts val="0"/>
              </a:spcAft>
              <a:buClr>
                <a:srgbClr val="E83090"/>
              </a:buClr>
              <a:buSzPts val="1200"/>
              <a:buFont typeface="Arial"/>
              <a:buChar char="•"/>
            </a:pPr>
            <a:r>
              <a:rPr lang="en" sz="1200">
                <a:solidFill>
                  <a:srgbClr val="B1B8C4"/>
                </a:solidFill>
                <a:latin typeface="Poppins"/>
                <a:ea typeface="Poppins"/>
                <a:cs typeface="Poppins"/>
                <a:sym typeface="Poppins"/>
              </a:rPr>
              <a:t>Battle-tested across years of real projects</a:t>
            </a:r>
            <a:endParaRPr sz="1100"/>
          </a:p>
        </p:txBody>
      </p:sp>
      <p:sp>
        <p:nvSpPr>
          <p:cNvPr id="186" name="Google Shape;186;p31"/>
          <p:cNvSpPr/>
          <p:nvPr/>
        </p:nvSpPr>
        <p:spPr>
          <a:xfrm>
            <a:off x="4789616" y="975000"/>
            <a:ext cx="4012500" cy="3225000"/>
          </a:xfrm>
          <a:prstGeom prst="roundRect">
            <a:avLst>
              <a:gd fmla="val 7000" name="adj"/>
            </a:avLst>
          </a:prstGeom>
          <a:solidFill>
            <a:srgbClr val="20242C"/>
          </a:solidFill>
          <a:ln cap="flat" cmpd="sng" w="19050">
            <a:solidFill>
              <a:srgbClr val="E83090"/>
            </a:solidFill>
            <a:prstDash val="solid"/>
            <a:round/>
            <a:headEnd len="sm" w="sm" type="none"/>
            <a:tailEnd len="sm" w="sm" type="none"/>
          </a:ln>
          <a:effectLst>
            <a:outerShdw blurRad="60000" rotWithShape="0" dir="5400000" dist="20000">
              <a:srgbClr val="000000">
                <a:alpha val="38039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"/>
              <a:buNone/>
            </a:pPr>
            <a:r>
              <a:rPr b="1" lang="en" sz="17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Modern Wizard</a:t>
            </a:r>
            <a:endParaRPr sz="1100"/>
          </a:p>
          <a:p>
            <a:pPr indent="-215900" lvl="0" marL="215900" marR="0" rtl="0" algn="l">
              <a:spcBef>
                <a:spcPts val="500"/>
              </a:spcBef>
              <a:spcAft>
                <a:spcPts val="0"/>
              </a:spcAft>
              <a:buClr>
                <a:srgbClr val="E83090"/>
              </a:buClr>
              <a:buSzPts val="1200"/>
              <a:buFont typeface="Arial"/>
              <a:buChar char="•"/>
            </a:pPr>
            <a:r>
              <a:rPr lang="en" sz="1200">
                <a:solidFill>
                  <a:srgbClr val="B1B8C4"/>
                </a:solidFill>
                <a:latin typeface="Poppins"/>
                <a:ea typeface="Poppins"/>
                <a:cs typeface="Poppins"/>
                <a:sym typeface="Poppins"/>
              </a:rPr>
              <a:t>The new default starting point</a:t>
            </a:r>
            <a:endParaRPr sz="1100"/>
          </a:p>
          <a:p>
            <a:pPr indent="-215900" lvl="0" marL="215900" marR="0" rtl="0" algn="l">
              <a:spcBef>
                <a:spcPts val="400"/>
              </a:spcBef>
              <a:spcAft>
                <a:spcPts val="0"/>
              </a:spcAft>
              <a:buClr>
                <a:srgbClr val="E83090"/>
              </a:buClr>
              <a:buSzPts val="1200"/>
              <a:buFont typeface="Arial"/>
              <a:buChar char="•"/>
            </a:pPr>
            <a:r>
              <a:rPr lang="en" sz="1200">
                <a:solidFill>
                  <a:srgbClr val="B1B8C4"/>
                </a:solidFill>
                <a:latin typeface="Poppins"/>
                <a:ea typeface="Poppins"/>
                <a:cs typeface="Poppins"/>
                <a:sym typeface="Poppins"/>
              </a:rPr>
              <a:t>Opinionated: fewer choices, a clearer path</a:t>
            </a:r>
            <a:endParaRPr sz="1100"/>
          </a:p>
          <a:p>
            <a:pPr indent="-215900" lvl="0" marL="215900" marR="0" rtl="0" algn="l">
              <a:spcBef>
                <a:spcPts val="400"/>
              </a:spcBef>
              <a:spcAft>
                <a:spcPts val="0"/>
              </a:spcAft>
              <a:buClr>
                <a:srgbClr val="E83090"/>
              </a:buClr>
              <a:buSzPts val="1200"/>
              <a:buFont typeface="Arial"/>
              <a:buChar char="•"/>
            </a:pPr>
            <a:r>
              <a:rPr lang="en" sz="1200">
                <a:solidFill>
                  <a:srgbClr val="B1B8C4"/>
                </a:solidFill>
                <a:latin typeface="Poppins"/>
                <a:ea typeface="Poppins"/>
                <a:cs typeface="Poppins"/>
                <a:sym typeface="Poppins"/>
              </a:rPr>
              <a:t>React UI on a stack AI tools already know: Vite, TanStack, shadcn/ui</a:t>
            </a:r>
            <a:endParaRPr sz="1100"/>
          </a:p>
          <a:p>
            <a:pPr indent="-215900" lvl="0" marL="215900" marR="0" rtl="0" algn="l">
              <a:spcBef>
                <a:spcPts val="400"/>
              </a:spcBef>
              <a:spcAft>
                <a:spcPts val="0"/>
              </a:spcAft>
              <a:buClr>
                <a:srgbClr val="E83090"/>
              </a:buClr>
              <a:buSzPts val="1200"/>
              <a:buFont typeface="Arial"/>
              <a:buChar char="•"/>
            </a:pPr>
            <a:r>
              <a:rPr lang="en" sz="1200">
                <a:solidFill>
                  <a:srgbClr val="B1B8C4"/>
                </a:solidFill>
                <a:latin typeface="Poppins"/>
                <a:ea typeface="Poppins"/>
                <a:cs typeface="Poppins"/>
                <a:sym typeface="Poppins"/>
              </a:rPr>
              <a:t>Shaped for AI-assisted development</a:t>
            </a:r>
            <a:endParaRPr sz="1100"/>
          </a:p>
        </p:txBody>
      </p:sp>
      <p:sp>
        <p:nvSpPr>
          <p:cNvPr id="187" name="Google Shape;187;p31"/>
          <p:cNvSpPr txBox="1"/>
          <p:nvPr/>
        </p:nvSpPr>
        <p:spPr>
          <a:xfrm>
            <a:off x="341873" y="4335000"/>
            <a:ext cx="7251900" cy="7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ppins"/>
              <a:buNone/>
            </a:pPr>
            <a:r>
              <a:rPr b="1" lang="en"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Why does React live in the Modern Wizard?  </a:t>
            </a:r>
            <a:r>
              <a:rPr lang="en" sz="1200">
                <a:solidFill>
                  <a:srgbClr val="B1B8C4"/>
                </a:solidFill>
                <a:latin typeface="Poppins"/>
                <a:ea typeface="Poppins"/>
                <a:cs typeface="Poppins"/>
                <a:sym typeface="Poppins"/>
              </a:rPr>
              <a:t>Because that is where we are building the simpler, AI-first path. Classic stays as-is for existing stacks.</a:t>
            </a:r>
            <a:endParaRPr sz="11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2"/>
          <p:cNvSpPr txBox="1"/>
          <p:nvPr/>
        </p:nvSpPr>
        <p:spPr>
          <a:xfrm>
            <a:off x="341887" y="285000"/>
            <a:ext cx="84300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Lexend"/>
              <a:buNone/>
            </a:pPr>
            <a:r>
              <a:rPr b="1" lang="en" sz="2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Is the Classic Wizard still supported?</a:t>
            </a:r>
            <a:endParaRPr sz="1100"/>
          </a:p>
        </p:txBody>
      </p:sp>
      <p:sp>
        <p:nvSpPr>
          <p:cNvPr id="194" name="Google Shape;194;p32"/>
          <p:cNvSpPr txBox="1"/>
          <p:nvPr/>
        </p:nvSpPr>
        <p:spPr>
          <a:xfrm>
            <a:off x="341885" y="1537500"/>
            <a:ext cx="84300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</a:pPr>
            <a:r>
              <a:rPr b="1" lang="en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Yes. Classic is fully supported, and nothing you have built on it goes away.</a:t>
            </a:r>
            <a:endParaRPr sz="1100"/>
          </a:p>
        </p:txBody>
      </p:sp>
      <p:sp>
        <p:nvSpPr>
          <p:cNvPr id="195" name="Google Shape;195;p32"/>
          <p:cNvSpPr txBox="1"/>
          <p:nvPr/>
        </p:nvSpPr>
        <p:spPr>
          <a:xfrm>
            <a:off x="341885" y="2775000"/>
            <a:ext cx="8430000" cy="6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1B8C4"/>
              </a:buClr>
              <a:buSzPts val="1300"/>
              <a:buFont typeface="Poppins"/>
              <a:buNone/>
            </a:pPr>
            <a:r>
              <a:rPr lang="en" sz="1300">
                <a:solidFill>
                  <a:srgbClr val="B1B8C4"/>
                </a:solidFill>
                <a:latin typeface="Poppins"/>
                <a:ea typeface="Poppins"/>
                <a:cs typeface="Poppins"/>
                <a:sym typeface="Poppins"/>
              </a:rPr>
              <a:t>Modern is an additional path for new, AI-first projects, not a replacement. You choose the one that fits your project.</a:t>
            </a:r>
            <a:endParaRPr sz="11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3"/>
          <p:cNvSpPr txBox="1"/>
          <p:nvPr/>
        </p:nvSpPr>
        <p:spPr>
          <a:xfrm>
            <a:off x="341887" y="285000"/>
            <a:ext cx="8429974" cy="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Lexend"/>
              <a:buNone/>
            </a:pPr>
            <a:r>
              <a:rPr b="1" lang="en" sz="27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Why React UI, and why now</a:t>
            </a:r>
            <a:endParaRPr sz="1100"/>
          </a:p>
        </p:txBody>
      </p:sp>
      <p:sp>
        <p:nvSpPr>
          <p:cNvPr id="202" name="Google Shape;202;p33"/>
          <p:cNvSpPr txBox="1"/>
          <p:nvPr/>
        </p:nvSpPr>
        <p:spPr>
          <a:xfrm>
            <a:off x="341885" y="922500"/>
            <a:ext cx="8429973" cy="3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15900" lvl="0" marL="215900" marR="0" rtl="0" algn="l">
              <a:spcBef>
                <a:spcPts val="0"/>
              </a:spcBef>
              <a:spcAft>
                <a:spcPts val="0"/>
              </a:spcAft>
              <a:buClr>
                <a:srgbClr val="E83090"/>
              </a:buClr>
              <a:buSzPts val="1400"/>
              <a:buFont typeface="Arial"/>
              <a:buChar char="•"/>
            </a:pPr>
            <a:r>
              <a:rPr b="1" lang="en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The stack AI tools understand best. </a:t>
            </a:r>
            <a:r>
              <a:rPr lang="en" sz="1400">
                <a:solidFill>
                  <a:srgbClr val="B1B8C4"/>
                </a:solidFill>
                <a:latin typeface="Poppins"/>
                <a:ea typeface="Poppins"/>
                <a:cs typeface="Poppins"/>
                <a:sym typeface="Poppins"/>
              </a:rPr>
              <a:t>Vite, TanStack and shadcn/ui are everywhere in training data, so there is less custom abstraction for a model to guess at.</a:t>
            </a:r>
            <a:endParaRPr sz="1400">
              <a:solidFill>
                <a:srgbClr val="B1B8C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B1B8C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15900" lvl="0" marL="215900" marR="0" rtl="0" algn="l">
              <a:spcBef>
                <a:spcPts val="600"/>
              </a:spcBef>
              <a:spcAft>
                <a:spcPts val="0"/>
              </a:spcAft>
              <a:buClr>
                <a:srgbClr val="E83090"/>
              </a:buClr>
              <a:buSzPts val="1400"/>
              <a:buFont typeface="Arial"/>
              <a:buChar char="•"/>
            </a:pPr>
            <a:r>
              <a:rPr b="1" lang="en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 simpler mental model. </a:t>
            </a:r>
            <a:r>
              <a:rPr lang="en" sz="1400">
                <a:solidFill>
                  <a:srgbClr val="B1B8C4"/>
                </a:solidFill>
                <a:latin typeface="Poppins"/>
                <a:ea typeface="Poppins"/>
                <a:cs typeface="Poppins"/>
                <a:sym typeface="Poppins"/>
              </a:rPr>
              <a:t>Fewer layers between you and the UI, so a prompt lands closer to working code.</a:t>
            </a:r>
            <a:endParaRPr sz="1400">
              <a:solidFill>
                <a:srgbClr val="B1B8C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B1B8C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15900" lvl="0" marL="215900" marR="0" rtl="0" algn="l">
              <a:spcBef>
                <a:spcPts val="600"/>
              </a:spcBef>
              <a:spcAft>
                <a:spcPts val="0"/>
              </a:spcAft>
              <a:buClr>
                <a:srgbClr val="E83090"/>
              </a:buClr>
              <a:buSzPts val="1400"/>
              <a:buFont typeface="Arial"/>
              <a:buChar char="•"/>
            </a:pPr>
            <a:r>
              <a:rPr b="1" lang="en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Familiar to the wider frontend world. </a:t>
            </a:r>
            <a:r>
              <a:rPr lang="en" sz="1400">
                <a:solidFill>
                  <a:srgbClr val="B1B8C4"/>
                </a:solidFill>
                <a:latin typeface="Poppins"/>
                <a:ea typeface="Poppins"/>
                <a:cs typeface="Poppins"/>
                <a:sym typeface="Poppins"/>
              </a:rPr>
              <a:t>Easier to hire for, easier to extend, easier to onboard new developers.</a:t>
            </a:r>
            <a:endParaRPr sz="1400">
              <a:solidFill>
                <a:srgbClr val="B1B8C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B1B8C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15900" lvl="0" marL="215900" marR="0" rtl="0" algn="l">
              <a:spcBef>
                <a:spcPts val="600"/>
              </a:spcBef>
              <a:spcAft>
                <a:spcPts val="0"/>
              </a:spcAft>
              <a:buClr>
                <a:srgbClr val="E83090"/>
              </a:buClr>
              <a:buSzPts val="1400"/>
              <a:buFont typeface="Arial"/>
              <a:buChar char="•"/>
            </a:pPr>
            <a:r>
              <a:rPr b="1" lang="en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The practical difference. </a:t>
            </a:r>
            <a:r>
              <a:rPr lang="en" sz="1400">
                <a:solidFill>
                  <a:srgbClr val="B1B8C4"/>
                </a:solidFill>
                <a:latin typeface="Poppins"/>
                <a:ea typeface="Poppins"/>
                <a:cs typeface="Poppins"/>
                <a:sym typeface="Poppins"/>
              </a:rPr>
              <a:t>You describe a screen; the agent generates into a clean, conventional structure, and you review less guesswork.</a:t>
            </a:r>
            <a:endParaRPr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4"/>
          <p:cNvSpPr txBox="1"/>
          <p:nvPr/>
        </p:nvSpPr>
        <p:spPr>
          <a:xfrm>
            <a:off x="341887" y="285000"/>
            <a:ext cx="8429974" cy="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Lexend"/>
              <a:buNone/>
            </a:pPr>
            <a:r>
              <a:rPr b="1" lang="en" sz="27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The React UI stack (this is the point)</a:t>
            </a:r>
            <a:endParaRPr sz="1100"/>
          </a:p>
        </p:txBody>
      </p:sp>
      <p:sp>
        <p:nvSpPr>
          <p:cNvPr id="209" name="Google Shape;209;p34"/>
          <p:cNvSpPr txBox="1"/>
          <p:nvPr/>
        </p:nvSpPr>
        <p:spPr>
          <a:xfrm>
            <a:off x="341885" y="885000"/>
            <a:ext cx="8429973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1B8C4"/>
              </a:buClr>
              <a:buSzPts val="1300"/>
              <a:buFont typeface="Poppins"/>
              <a:buNone/>
            </a:pPr>
            <a:r>
              <a:rPr lang="en" sz="1300">
                <a:solidFill>
                  <a:srgbClr val="B1B8C4"/>
                </a:solidFill>
                <a:latin typeface="Poppins"/>
                <a:ea typeface="Poppins"/>
                <a:cs typeface="Poppins"/>
                <a:sym typeface="Poppins"/>
              </a:rPr>
              <a:t>ABP 10.4 did not just add React. It chose the exact stack that AI assistants already know well.</a:t>
            </a:r>
            <a:endParaRPr sz="1100"/>
          </a:p>
        </p:txBody>
      </p:sp>
      <p:sp>
        <p:nvSpPr>
          <p:cNvPr id="210" name="Google Shape;210;p34"/>
          <p:cNvSpPr txBox="1"/>
          <p:nvPr/>
        </p:nvSpPr>
        <p:spPr>
          <a:xfrm>
            <a:off x="330009" y="1391250"/>
            <a:ext cx="19125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B5A0"/>
              </a:buClr>
              <a:buSzPts val="1100"/>
              <a:buFont typeface="Lexend"/>
              <a:buNone/>
            </a:pPr>
            <a:r>
              <a:rPr b="1" lang="en" sz="1100">
                <a:solidFill>
                  <a:srgbClr val="13B5A0"/>
                </a:solidFill>
                <a:latin typeface="Lexend"/>
                <a:ea typeface="Lexend"/>
                <a:cs typeface="Lexend"/>
                <a:sym typeface="Lexend"/>
              </a:rPr>
              <a:t>Build &amp; test</a:t>
            </a:r>
            <a:endParaRPr sz="1100"/>
          </a:p>
        </p:txBody>
      </p:sp>
      <p:sp>
        <p:nvSpPr>
          <p:cNvPr id="211" name="Google Shape;211;p34"/>
          <p:cNvSpPr/>
          <p:nvPr/>
        </p:nvSpPr>
        <p:spPr>
          <a:xfrm>
            <a:off x="2362500" y="1425000"/>
            <a:ext cx="665226" cy="352500"/>
          </a:xfrm>
          <a:prstGeom prst="roundRect">
            <a:avLst>
              <a:gd fmla="val 24000" name="adj"/>
            </a:avLst>
          </a:prstGeom>
          <a:solidFill>
            <a:srgbClr val="2C333D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oppins"/>
              <a:buNone/>
            </a:pPr>
            <a:r>
              <a:rPr lang="en"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Vite</a:t>
            </a:r>
            <a:endParaRPr sz="1100"/>
          </a:p>
        </p:txBody>
      </p:sp>
      <p:sp>
        <p:nvSpPr>
          <p:cNvPr id="212" name="Google Shape;212;p34"/>
          <p:cNvSpPr/>
          <p:nvPr/>
        </p:nvSpPr>
        <p:spPr>
          <a:xfrm>
            <a:off x="3147726" y="1425000"/>
            <a:ext cx="809244" cy="352500"/>
          </a:xfrm>
          <a:prstGeom prst="roundRect">
            <a:avLst>
              <a:gd fmla="val 24000" name="adj"/>
            </a:avLst>
          </a:prstGeom>
          <a:solidFill>
            <a:srgbClr val="2C333D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oppins"/>
              <a:buNone/>
            </a:pPr>
            <a:r>
              <a:rPr lang="en"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Vitest</a:t>
            </a:r>
            <a:endParaRPr sz="1100"/>
          </a:p>
        </p:txBody>
      </p:sp>
      <p:sp>
        <p:nvSpPr>
          <p:cNvPr id="213" name="Google Shape;213;p34"/>
          <p:cNvSpPr txBox="1"/>
          <p:nvPr/>
        </p:nvSpPr>
        <p:spPr>
          <a:xfrm>
            <a:off x="330009" y="1948125"/>
            <a:ext cx="19125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B5A0"/>
              </a:buClr>
              <a:buSzPts val="1100"/>
              <a:buFont typeface="Lexend"/>
              <a:buNone/>
            </a:pPr>
            <a:r>
              <a:rPr b="1" lang="en" sz="1100">
                <a:solidFill>
                  <a:srgbClr val="13B5A0"/>
                </a:solidFill>
                <a:latin typeface="Lexend"/>
                <a:ea typeface="Lexend"/>
                <a:cs typeface="Lexend"/>
                <a:sym typeface="Lexend"/>
              </a:rPr>
              <a:t>Routing &amp; data</a:t>
            </a:r>
            <a:endParaRPr sz="1100"/>
          </a:p>
        </p:txBody>
      </p:sp>
      <p:sp>
        <p:nvSpPr>
          <p:cNvPr id="214" name="Google Shape;214;p34"/>
          <p:cNvSpPr/>
          <p:nvPr/>
        </p:nvSpPr>
        <p:spPr>
          <a:xfrm>
            <a:off x="2362500" y="1965000"/>
            <a:ext cx="1457325" cy="352500"/>
          </a:xfrm>
          <a:prstGeom prst="roundRect">
            <a:avLst>
              <a:gd fmla="val 24000" name="adj"/>
            </a:avLst>
          </a:prstGeom>
          <a:solidFill>
            <a:srgbClr val="2C333D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oppins"/>
              <a:buNone/>
            </a:pPr>
            <a:r>
              <a:rPr lang="en"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TanStack Router</a:t>
            </a:r>
            <a:endParaRPr sz="1100"/>
          </a:p>
        </p:txBody>
      </p:sp>
      <p:sp>
        <p:nvSpPr>
          <p:cNvPr id="215" name="Google Shape;215;p34"/>
          <p:cNvSpPr/>
          <p:nvPr/>
        </p:nvSpPr>
        <p:spPr>
          <a:xfrm>
            <a:off x="3939825" y="1965000"/>
            <a:ext cx="1385316" cy="352500"/>
          </a:xfrm>
          <a:prstGeom prst="roundRect">
            <a:avLst>
              <a:gd fmla="val 24000" name="adj"/>
            </a:avLst>
          </a:prstGeom>
          <a:solidFill>
            <a:srgbClr val="2C333D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oppins"/>
              <a:buNone/>
            </a:pPr>
            <a:r>
              <a:rPr lang="en"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TanStack Query</a:t>
            </a:r>
            <a:endParaRPr sz="1100"/>
          </a:p>
        </p:txBody>
      </p:sp>
      <p:sp>
        <p:nvSpPr>
          <p:cNvPr id="216" name="Google Shape;216;p34"/>
          <p:cNvSpPr/>
          <p:nvPr/>
        </p:nvSpPr>
        <p:spPr>
          <a:xfrm>
            <a:off x="5445141" y="1965000"/>
            <a:ext cx="737235" cy="352500"/>
          </a:xfrm>
          <a:prstGeom prst="roundRect">
            <a:avLst>
              <a:gd fmla="val 24000" name="adj"/>
            </a:avLst>
          </a:prstGeom>
          <a:solidFill>
            <a:srgbClr val="2C333D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oppins"/>
              <a:buNone/>
            </a:pPr>
            <a:r>
              <a:rPr lang="en"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Axios</a:t>
            </a:r>
            <a:endParaRPr sz="1100"/>
          </a:p>
        </p:txBody>
      </p:sp>
      <p:sp>
        <p:nvSpPr>
          <p:cNvPr id="217" name="Google Shape;217;p34"/>
          <p:cNvSpPr txBox="1"/>
          <p:nvPr/>
        </p:nvSpPr>
        <p:spPr>
          <a:xfrm>
            <a:off x="330009" y="2496563"/>
            <a:ext cx="19125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B5A0"/>
              </a:buClr>
              <a:buSzPts val="1100"/>
              <a:buFont typeface="Lexend"/>
              <a:buNone/>
            </a:pPr>
            <a:r>
              <a:rPr b="1" lang="en" sz="1100">
                <a:solidFill>
                  <a:srgbClr val="13B5A0"/>
                </a:solidFill>
                <a:latin typeface="Lexend"/>
                <a:ea typeface="Lexend"/>
                <a:cs typeface="Lexend"/>
                <a:sym typeface="Lexend"/>
              </a:rPr>
              <a:t>UI &amp; styling</a:t>
            </a:r>
            <a:endParaRPr sz="1100"/>
          </a:p>
        </p:txBody>
      </p:sp>
      <p:sp>
        <p:nvSpPr>
          <p:cNvPr id="218" name="Google Shape;218;p34"/>
          <p:cNvSpPr/>
          <p:nvPr/>
        </p:nvSpPr>
        <p:spPr>
          <a:xfrm>
            <a:off x="2362500" y="2505000"/>
            <a:ext cx="1025271" cy="352500"/>
          </a:xfrm>
          <a:prstGeom prst="roundRect">
            <a:avLst>
              <a:gd fmla="val 24000" name="adj"/>
            </a:avLst>
          </a:prstGeom>
          <a:solidFill>
            <a:srgbClr val="2C333D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oppins"/>
              <a:buNone/>
            </a:pPr>
            <a:r>
              <a:rPr lang="en"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shadcn/ui</a:t>
            </a:r>
            <a:endParaRPr sz="1100"/>
          </a:p>
        </p:txBody>
      </p:sp>
      <p:sp>
        <p:nvSpPr>
          <p:cNvPr id="219" name="Google Shape;219;p34"/>
          <p:cNvSpPr/>
          <p:nvPr/>
        </p:nvSpPr>
        <p:spPr>
          <a:xfrm>
            <a:off x="3507771" y="2505000"/>
            <a:ext cx="953262" cy="352500"/>
          </a:xfrm>
          <a:prstGeom prst="roundRect">
            <a:avLst>
              <a:gd fmla="val 24000" name="adj"/>
            </a:avLst>
          </a:prstGeom>
          <a:solidFill>
            <a:srgbClr val="2C333D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oppins"/>
              <a:buNone/>
            </a:pPr>
            <a:r>
              <a:rPr lang="en"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Radix UI</a:t>
            </a:r>
            <a:endParaRPr sz="1100"/>
          </a:p>
        </p:txBody>
      </p:sp>
      <p:sp>
        <p:nvSpPr>
          <p:cNvPr id="220" name="Google Shape;220;p34"/>
          <p:cNvSpPr/>
          <p:nvPr/>
        </p:nvSpPr>
        <p:spPr>
          <a:xfrm>
            <a:off x="4581033" y="2505000"/>
            <a:ext cx="1241298" cy="352500"/>
          </a:xfrm>
          <a:prstGeom prst="roundRect">
            <a:avLst>
              <a:gd fmla="val 24000" name="adj"/>
            </a:avLst>
          </a:prstGeom>
          <a:solidFill>
            <a:srgbClr val="2C333D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oppins"/>
              <a:buNone/>
            </a:pPr>
            <a:r>
              <a:rPr lang="en"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Tailwind CSS</a:t>
            </a:r>
            <a:endParaRPr sz="1100"/>
          </a:p>
        </p:txBody>
      </p:sp>
      <p:sp>
        <p:nvSpPr>
          <p:cNvPr id="221" name="Google Shape;221;p34"/>
          <p:cNvSpPr txBox="1"/>
          <p:nvPr/>
        </p:nvSpPr>
        <p:spPr>
          <a:xfrm>
            <a:off x="330009" y="3040788"/>
            <a:ext cx="19125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B5A0"/>
              </a:buClr>
              <a:buSzPts val="1100"/>
              <a:buFont typeface="Lexend"/>
              <a:buNone/>
            </a:pPr>
            <a:r>
              <a:rPr b="1" lang="en" sz="1100">
                <a:solidFill>
                  <a:srgbClr val="13B5A0"/>
                </a:solidFill>
                <a:latin typeface="Lexend"/>
                <a:ea typeface="Lexend"/>
                <a:cs typeface="Lexend"/>
                <a:sym typeface="Lexend"/>
              </a:rPr>
              <a:t>Forms &amp; types</a:t>
            </a:r>
            <a:endParaRPr sz="1100"/>
          </a:p>
        </p:txBody>
      </p:sp>
      <p:sp>
        <p:nvSpPr>
          <p:cNvPr id="222" name="Google Shape;222;p34"/>
          <p:cNvSpPr/>
          <p:nvPr/>
        </p:nvSpPr>
        <p:spPr>
          <a:xfrm>
            <a:off x="2362500" y="3045000"/>
            <a:ext cx="1457325" cy="352500"/>
          </a:xfrm>
          <a:prstGeom prst="roundRect">
            <a:avLst>
              <a:gd fmla="val 24000" name="adj"/>
            </a:avLst>
          </a:prstGeom>
          <a:solidFill>
            <a:srgbClr val="2C333D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oppins"/>
              <a:buNone/>
            </a:pPr>
            <a:r>
              <a:rPr lang="en"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React Hook Form</a:t>
            </a:r>
            <a:endParaRPr sz="1100"/>
          </a:p>
        </p:txBody>
      </p:sp>
      <p:sp>
        <p:nvSpPr>
          <p:cNvPr id="223" name="Google Shape;223;p34"/>
          <p:cNvSpPr/>
          <p:nvPr/>
        </p:nvSpPr>
        <p:spPr>
          <a:xfrm>
            <a:off x="3939825" y="3045000"/>
            <a:ext cx="593217" cy="352500"/>
          </a:xfrm>
          <a:prstGeom prst="roundRect">
            <a:avLst>
              <a:gd fmla="val 24000" name="adj"/>
            </a:avLst>
          </a:prstGeom>
          <a:solidFill>
            <a:srgbClr val="2C333D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oppins"/>
              <a:buNone/>
            </a:pPr>
            <a:r>
              <a:rPr lang="en"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Zod</a:t>
            </a:r>
            <a:endParaRPr sz="1100"/>
          </a:p>
        </p:txBody>
      </p:sp>
      <p:sp>
        <p:nvSpPr>
          <p:cNvPr id="224" name="Google Shape;224;p34"/>
          <p:cNvSpPr/>
          <p:nvPr/>
        </p:nvSpPr>
        <p:spPr>
          <a:xfrm>
            <a:off x="4653042" y="3045000"/>
            <a:ext cx="1097280" cy="352500"/>
          </a:xfrm>
          <a:prstGeom prst="roundRect">
            <a:avLst>
              <a:gd fmla="val 24000" name="adj"/>
            </a:avLst>
          </a:prstGeom>
          <a:solidFill>
            <a:srgbClr val="2C333D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oppins"/>
              <a:buNone/>
            </a:pPr>
            <a:r>
              <a:rPr lang="en"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TypeScript</a:t>
            </a:r>
            <a:endParaRPr sz="1100"/>
          </a:p>
        </p:txBody>
      </p:sp>
      <p:sp>
        <p:nvSpPr>
          <p:cNvPr id="225" name="Google Shape;225;p34"/>
          <p:cNvSpPr txBox="1"/>
          <p:nvPr/>
        </p:nvSpPr>
        <p:spPr>
          <a:xfrm>
            <a:off x="330009" y="3585025"/>
            <a:ext cx="19125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B5A0"/>
              </a:buClr>
              <a:buSzPts val="1100"/>
              <a:buFont typeface="Lexend"/>
              <a:buNone/>
            </a:pPr>
            <a:r>
              <a:rPr b="1" lang="en" sz="1100">
                <a:solidFill>
                  <a:srgbClr val="13B5A0"/>
                </a:solidFill>
                <a:latin typeface="Lexend"/>
                <a:ea typeface="Lexend"/>
                <a:cs typeface="Lexend"/>
                <a:sym typeface="Lexend"/>
              </a:rPr>
              <a:t>Auth</a:t>
            </a:r>
            <a:endParaRPr sz="1100"/>
          </a:p>
        </p:txBody>
      </p:sp>
      <p:sp>
        <p:nvSpPr>
          <p:cNvPr id="226" name="Google Shape;226;p34"/>
          <p:cNvSpPr/>
          <p:nvPr/>
        </p:nvSpPr>
        <p:spPr>
          <a:xfrm>
            <a:off x="2362500" y="3585000"/>
            <a:ext cx="1889379" cy="352500"/>
          </a:xfrm>
          <a:prstGeom prst="roundRect">
            <a:avLst>
              <a:gd fmla="val 24000" name="adj"/>
            </a:avLst>
          </a:prstGeom>
          <a:solidFill>
            <a:srgbClr val="2C333D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oppins"/>
              <a:buNone/>
            </a:pPr>
            <a:r>
              <a:rPr lang="en"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OpenID Connect (OIDC)</a:t>
            </a:r>
            <a:endParaRPr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5"/>
          <p:cNvSpPr txBox="1"/>
          <p:nvPr/>
        </p:nvSpPr>
        <p:spPr>
          <a:xfrm>
            <a:off x="341887" y="285000"/>
            <a:ext cx="8429974" cy="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Lexend"/>
              <a:buNone/>
            </a:pPr>
            <a:r>
              <a:rPr b="1" lang="en" sz="27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What you actually get</a:t>
            </a:r>
            <a:endParaRPr sz="1100"/>
          </a:p>
        </p:txBody>
      </p:sp>
      <p:sp>
        <p:nvSpPr>
          <p:cNvPr id="233" name="Google Shape;233;p35"/>
          <p:cNvSpPr/>
          <p:nvPr/>
        </p:nvSpPr>
        <p:spPr>
          <a:xfrm>
            <a:off x="341885" y="975000"/>
            <a:ext cx="4012500" cy="2062500"/>
          </a:xfrm>
          <a:prstGeom prst="roundRect">
            <a:avLst>
              <a:gd fmla="val 7000" name="adj"/>
            </a:avLst>
          </a:prstGeom>
          <a:solidFill>
            <a:srgbClr val="20242C"/>
          </a:solidFill>
          <a:ln cap="flat" cmpd="sng" w="19050">
            <a:solidFill>
              <a:srgbClr val="E83090"/>
            </a:solidFill>
            <a:prstDash val="solid"/>
            <a:round/>
            <a:headEnd len="sm" w="sm" type="none"/>
            <a:tailEnd len="sm" w="sm" type="none"/>
          </a:ln>
          <a:effectLst>
            <a:outerShdw blurRad="60000" rotWithShape="0" dir="5400000" dist="20000">
              <a:srgbClr val="000000">
                <a:alpha val="38039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Lexend"/>
              <a:buNone/>
            </a:pPr>
            <a:r>
              <a:rPr b="1" lang="en" sz="1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Your React app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B1B8C4"/>
              </a:buClr>
              <a:buSzPts val="1200"/>
              <a:buFont typeface="Poppins"/>
              <a:buNone/>
            </a:pPr>
            <a:r>
              <a:rPr lang="en" sz="1200">
                <a:solidFill>
                  <a:srgbClr val="B1B8C4"/>
                </a:solidFill>
                <a:latin typeface="Poppins"/>
                <a:ea typeface="Poppins"/>
                <a:cs typeface="Poppins"/>
                <a:sym typeface="Poppins"/>
              </a:rPr>
              <a:t>The developer-owned SPA. Your pages and features live in react/src/pages, as real code in your solution.</a:t>
            </a:r>
            <a:endParaRPr sz="1100"/>
          </a:p>
        </p:txBody>
      </p:sp>
      <p:sp>
        <p:nvSpPr>
          <p:cNvPr id="234" name="Google Shape;234;p35"/>
          <p:cNvSpPr/>
          <p:nvPr/>
        </p:nvSpPr>
        <p:spPr>
          <a:xfrm>
            <a:off x="4789616" y="975000"/>
            <a:ext cx="4012500" cy="2062500"/>
          </a:xfrm>
          <a:prstGeom prst="roundRect">
            <a:avLst>
              <a:gd fmla="val 7000" name="adj"/>
            </a:avLst>
          </a:prstGeom>
          <a:solidFill>
            <a:srgbClr val="20242C"/>
          </a:solidFill>
          <a:ln cap="flat" cmpd="sng" w="19050">
            <a:solidFill>
              <a:srgbClr val="13B5A0"/>
            </a:solidFill>
            <a:prstDash val="solid"/>
            <a:round/>
            <a:headEnd len="sm" w="sm" type="none"/>
            <a:tailEnd len="sm" w="sm" type="none"/>
          </a:ln>
          <a:effectLst>
            <a:outerShdw blurRad="60000" rotWithShape="0" dir="5400000" dist="20000">
              <a:srgbClr val="000000">
                <a:alpha val="38039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Lexend"/>
              <a:buNone/>
            </a:pPr>
            <a:r>
              <a:rPr b="1" lang="en" sz="1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ABP Admin Console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B1B8C4"/>
              </a:buClr>
              <a:buSzPts val="1200"/>
              <a:buFont typeface="Poppins"/>
              <a:buNone/>
            </a:pPr>
            <a:r>
              <a:rPr lang="en" sz="1200">
                <a:solidFill>
                  <a:srgbClr val="B1B8C4"/>
                </a:solidFill>
                <a:latin typeface="Poppins"/>
                <a:ea typeface="Poppins"/>
                <a:cs typeface="Poppins"/>
                <a:sym typeface="Poppins"/>
              </a:rPr>
              <a:t>The ready-made admin UI for ABP modules (Volo.Abp.AdminConsole): users, roles, settings, tenants, all wired up.</a:t>
            </a:r>
            <a:endParaRPr sz="1100"/>
          </a:p>
        </p:txBody>
      </p:sp>
      <p:sp>
        <p:nvSpPr>
          <p:cNvPr id="235" name="Google Shape;235;p35"/>
          <p:cNvSpPr/>
          <p:nvPr/>
        </p:nvSpPr>
        <p:spPr>
          <a:xfrm>
            <a:off x="341885" y="3375000"/>
            <a:ext cx="8460231" cy="615000"/>
          </a:xfrm>
          <a:prstGeom prst="roundRect">
            <a:avLst>
              <a:gd fmla="val 12000" name="adj"/>
            </a:avLst>
          </a:prstGeom>
          <a:solidFill>
            <a:srgbClr val="13171C"/>
          </a:solidFill>
          <a:ln cap="flat" cmpd="sng" w="12700">
            <a:solidFill>
              <a:srgbClr val="2C33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B5A0"/>
              </a:buClr>
              <a:buSzPts val="1200"/>
              <a:buFont typeface="Courier New"/>
              <a:buNone/>
            </a:pPr>
            <a:r>
              <a:rPr lang="en" sz="1200">
                <a:solidFill>
                  <a:srgbClr val="13B5A0"/>
                </a:solidFill>
                <a:latin typeface="Courier New"/>
                <a:ea typeface="Courier New"/>
                <a:cs typeface="Courier New"/>
                <a:sym typeface="Courier New"/>
              </a:rPr>
              <a:t>abp new Acme.BookStore --template app --modern --ui-framework react</a:t>
            </a:r>
            <a:endParaRPr sz="1100"/>
          </a:p>
        </p:txBody>
      </p:sp>
      <p:sp>
        <p:nvSpPr>
          <p:cNvPr id="236" name="Google Shape;236;p35"/>
          <p:cNvSpPr txBox="1"/>
          <p:nvPr/>
        </p:nvSpPr>
        <p:spPr>
          <a:xfrm>
            <a:off x="341885" y="4140000"/>
            <a:ext cx="8429973" cy="8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ppins"/>
              <a:buNone/>
            </a:pPr>
            <a:r>
              <a:rPr b="1" lang="en"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Or pick the Modern flow in ABP Studio’s New Solution wizard (v3.0+). </a:t>
            </a:r>
            <a:r>
              <a:rPr lang="en" sz="1200">
                <a:solidFill>
                  <a:srgbClr val="B1B8C4"/>
                </a:solidFill>
                <a:latin typeface="Poppins"/>
                <a:ea typeface="Poppins"/>
                <a:cs typeface="Poppins"/>
                <a:sym typeface="Poppins"/>
              </a:rPr>
              <a:t>It preconfigures ports, OIDC clients, theme, and the React + Admin Console wiring for you.</a:t>
            </a:r>
            <a:endParaRPr sz="11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6"/>
          <p:cNvSpPr txBox="1"/>
          <p:nvPr/>
        </p:nvSpPr>
        <p:spPr>
          <a:xfrm>
            <a:off x="357024" y="1709250"/>
            <a:ext cx="84300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Lexend"/>
              <a:buNone/>
            </a:pPr>
            <a:r>
              <a:rPr b="1" lang="en" sz="33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End-to-end support, in the AI era</a:t>
            </a:r>
            <a:endParaRPr sz="1100"/>
          </a:p>
        </p:txBody>
      </p:sp>
      <p:sp>
        <p:nvSpPr>
          <p:cNvPr id="243" name="Google Shape;243;p36"/>
          <p:cNvSpPr txBox="1"/>
          <p:nvPr/>
        </p:nvSpPr>
        <p:spPr>
          <a:xfrm>
            <a:off x="367638" y="2834250"/>
            <a:ext cx="82500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1B8C4"/>
              </a:buClr>
              <a:buSzPts val="1400"/>
              <a:buFont typeface="Poppins"/>
              <a:buNone/>
            </a:pPr>
            <a:r>
              <a:rPr lang="en" sz="1400">
                <a:solidFill>
                  <a:srgbClr val="B1B8C4"/>
                </a:solidFill>
                <a:latin typeface="Poppins"/>
                <a:ea typeface="Poppins"/>
                <a:cs typeface="Poppins"/>
                <a:sym typeface="Poppins"/>
              </a:rPr>
              <a:t>Faster answers, with a real person behind them.</a:t>
            </a:r>
            <a:endParaRPr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7"/>
          <p:cNvSpPr txBox="1"/>
          <p:nvPr/>
        </p:nvSpPr>
        <p:spPr>
          <a:xfrm>
            <a:off x="341887" y="285000"/>
            <a:ext cx="8429974" cy="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Lexend"/>
              <a:buNone/>
            </a:pPr>
            <a:r>
              <a:rPr b="1" lang="en" sz="27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How support works now: abp.io/support</a:t>
            </a:r>
            <a:endParaRPr sz="1100"/>
          </a:p>
        </p:txBody>
      </p:sp>
      <p:sp>
        <p:nvSpPr>
          <p:cNvPr id="250" name="Google Shape;250;p37"/>
          <p:cNvSpPr/>
          <p:nvPr/>
        </p:nvSpPr>
        <p:spPr>
          <a:xfrm>
            <a:off x="341885" y="1125000"/>
            <a:ext cx="2602500" cy="1650000"/>
          </a:xfrm>
          <a:prstGeom prst="roundRect">
            <a:avLst>
              <a:gd fmla="val 8000" name="adj"/>
            </a:avLst>
          </a:prstGeom>
          <a:solidFill>
            <a:srgbClr val="20242C"/>
          </a:solidFill>
          <a:ln>
            <a:noFill/>
          </a:ln>
          <a:effectLst>
            <a:outerShdw blurRad="60000" rotWithShape="0" dir="5400000" dist="20000">
              <a:srgbClr val="000000">
                <a:alpha val="38039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3090"/>
              </a:buClr>
              <a:buSzPts val="1800"/>
              <a:buFont typeface="Lexend"/>
              <a:buNone/>
            </a:pPr>
            <a:r>
              <a:rPr b="1" lang="en" sz="1800">
                <a:solidFill>
                  <a:srgbClr val="E8309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ppins"/>
              <a:buNone/>
            </a:pPr>
            <a:r>
              <a:rPr b="1" lang="en"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Ask at abp.io/support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B1B8C4"/>
              </a:buClr>
              <a:buSzPts val="1000"/>
              <a:buFont typeface="Poppins"/>
              <a:buNone/>
            </a:pPr>
            <a:r>
              <a:rPr lang="en" sz="1000">
                <a:solidFill>
                  <a:srgbClr val="B1B8C4"/>
                </a:solidFill>
                <a:latin typeface="Poppins"/>
                <a:ea typeface="Poppins"/>
                <a:cs typeface="Poppins"/>
                <a:sym typeface="Poppins"/>
              </a:rPr>
              <a:t>An AI assistant trained on ABP docs and source answers first, instantly, any hour.</a:t>
            </a:r>
            <a:endParaRPr sz="1100"/>
          </a:p>
        </p:txBody>
      </p:sp>
      <p:sp>
        <p:nvSpPr>
          <p:cNvPr id="251" name="Google Shape;251;p37"/>
          <p:cNvSpPr/>
          <p:nvPr/>
        </p:nvSpPr>
        <p:spPr>
          <a:xfrm>
            <a:off x="2972597" y="1762500"/>
            <a:ext cx="270000" cy="345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B7280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37"/>
          <p:cNvSpPr/>
          <p:nvPr/>
        </p:nvSpPr>
        <p:spPr>
          <a:xfrm>
            <a:off x="3270808" y="1125000"/>
            <a:ext cx="2602500" cy="1650000"/>
          </a:xfrm>
          <a:prstGeom prst="roundRect">
            <a:avLst>
              <a:gd fmla="val 8000" name="adj"/>
            </a:avLst>
          </a:prstGeom>
          <a:solidFill>
            <a:srgbClr val="20242C"/>
          </a:solidFill>
          <a:ln>
            <a:noFill/>
          </a:ln>
          <a:effectLst>
            <a:outerShdw blurRad="60000" rotWithShape="0" dir="5400000" dist="20000">
              <a:srgbClr val="000000">
                <a:alpha val="38039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3090"/>
              </a:buClr>
              <a:buSzPts val="1800"/>
              <a:buFont typeface="Lexend"/>
              <a:buNone/>
            </a:pPr>
            <a:r>
              <a:rPr b="1" lang="en" sz="1800">
                <a:solidFill>
                  <a:srgbClr val="E8309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ppins"/>
              <a:buNone/>
            </a:pPr>
            <a:r>
              <a:rPr b="1" lang="en"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Hands off to the ABP team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B1B8C4"/>
              </a:buClr>
              <a:buSzPts val="1000"/>
              <a:buFont typeface="Poppins"/>
              <a:buNone/>
            </a:pPr>
            <a:r>
              <a:rPr lang="en" sz="1000">
                <a:solidFill>
                  <a:srgbClr val="B1B8C4"/>
                </a:solidFill>
                <a:latin typeface="Poppins"/>
                <a:ea typeface="Poppins"/>
                <a:cs typeface="Poppins"/>
                <a:sym typeface="Poppins"/>
              </a:rPr>
              <a:t>The same engineers who build the framework pick it up from there.</a:t>
            </a:r>
            <a:endParaRPr sz="1100"/>
          </a:p>
        </p:txBody>
      </p:sp>
      <p:sp>
        <p:nvSpPr>
          <p:cNvPr id="253" name="Google Shape;253;p37"/>
          <p:cNvSpPr/>
          <p:nvPr/>
        </p:nvSpPr>
        <p:spPr>
          <a:xfrm>
            <a:off x="5901520" y="1762500"/>
            <a:ext cx="270000" cy="345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B7280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37"/>
          <p:cNvSpPr/>
          <p:nvPr/>
        </p:nvSpPr>
        <p:spPr>
          <a:xfrm>
            <a:off x="6199731" y="1125000"/>
            <a:ext cx="2602500" cy="1650000"/>
          </a:xfrm>
          <a:prstGeom prst="roundRect">
            <a:avLst>
              <a:gd fmla="val 8000" name="adj"/>
            </a:avLst>
          </a:prstGeom>
          <a:solidFill>
            <a:srgbClr val="20242C"/>
          </a:solidFill>
          <a:ln>
            <a:noFill/>
          </a:ln>
          <a:effectLst>
            <a:outerShdw blurRad="60000" rotWithShape="0" dir="5400000" dist="20000">
              <a:srgbClr val="000000">
                <a:alpha val="38039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3090"/>
              </a:buClr>
              <a:buSzPts val="1800"/>
              <a:buFont typeface="Lexend"/>
              <a:buNone/>
            </a:pPr>
            <a:r>
              <a:rPr b="1" lang="en" sz="1800">
                <a:solidFill>
                  <a:srgbClr val="E8309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ppins"/>
              <a:buNone/>
            </a:pPr>
            <a:r>
              <a:rPr b="1" lang="en"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Consultancy &amp; 1:1 sessions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B1B8C4"/>
              </a:buClr>
              <a:buSzPts val="1000"/>
              <a:buFont typeface="Poppins"/>
              <a:buNone/>
            </a:pPr>
            <a:r>
              <a:rPr lang="en" sz="1000">
                <a:solidFill>
                  <a:srgbClr val="B1B8C4"/>
                </a:solidFill>
                <a:latin typeface="Poppins"/>
                <a:ea typeface="Poppins"/>
                <a:cs typeface="Poppins"/>
                <a:sym typeface="Poppins"/>
              </a:rPr>
              <a:t>One-on-one live support for the cases that call for it.</a:t>
            </a:r>
            <a:endParaRPr sz="1100"/>
          </a:p>
        </p:txBody>
      </p:sp>
      <p:sp>
        <p:nvSpPr>
          <p:cNvPr id="255" name="Google Shape;255;p37"/>
          <p:cNvSpPr/>
          <p:nvPr/>
        </p:nvSpPr>
        <p:spPr>
          <a:xfrm>
            <a:off x="341885" y="3135000"/>
            <a:ext cx="4012500" cy="922500"/>
          </a:xfrm>
          <a:prstGeom prst="roundRect">
            <a:avLst>
              <a:gd fmla="val 8000" name="adj"/>
            </a:avLst>
          </a:prstGeom>
          <a:solidFill>
            <a:srgbClr val="20242C"/>
          </a:solidFill>
          <a:ln cap="flat" cmpd="sng" w="19050">
            <a:solidFill>
              <a:srgbClr val="E83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"/>
              <a:buNone/>
            </a:pPr>
            <a:r>
              <a:rPr b="1" lang="en" sz="14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Is support going AI-only?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B1B8C4"/>
              </a:buClr>
              <a:buSzPts val="1100"/>
              <a:buFont typeface="Poppins"/>
              <a:buNone/>
            </a:pPr>
            <a:r>
              <a:rPr lang="en" sz="1100">
                <a:solidFill>
                  <a:srgbClr val="B1B8C4"/>
                </a:solidFill>
                <a:latin typeface="Poppins"/>
                <a:ea typeface="Poppins"/>
                <a:cs typeface="Poppins"/>
                <a:sym typeface="Poppins"/>
              </a:rPr>
              <a:t>No. The AI handles the fast, common questions so the team has more time for the hard ones.</a:t>
            </a:r>
            <a:endParaRPr sz="1100"/>
          </a:p>
        </p:txBody>
      </p:sp>
      <p:sp>
        <p:nvSpPr>
          <p:cNvPr id="256" name="Google Shape;256;p37"/>
          <p:cNvSpPr/>
          <p:nvPr/>
        </p:nvSpPr>
        <p:spPr>
          <a:xfrm>
            <a:off x="4789616" y="3135000"/>
            <a:ext cx="4012500" cy="922500"/>
          </a:xfrm>
          <a:prstGeom prst="roundRect">
            <a:avLst>
              <a:gd fmla="val 8000" name="adj"/>
            </a:avLst>
          </a:prstGeom>
          <a:solidFill>
            <a:srgbClr val="20242C"/>
          </a:solidFill>
          <a:ln cap="flat" cmpd="sng" w="19050">
            <a:solidFill>
              <a:srgbClr val="13B5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"/>
              <a:buNone/>
            </a:pPr>
            <a:r>
              <a:rPr b="1" lang="en" sz="14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Will a real person be there?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B1B8C4"/>
              </a:buClr>
              <a:buSzPts val="1100"/>
              <a:buFont typeface="Poppins"/>
              <a:buNone/>
            </a:pPr>
            <a:r>
              <a:rPr lang="en" sz="1100">
                <a:solidFill>
                  <a:srgbClr val="B1B8C4"/>
                </a:solidFill>
                <a:latin typeface="Poppins"/>
                <a:ea typeface="Poppins"/>
                <a:cs typeface="Poppins"/>
                <a:sym typeface="Poppins"/>
              </a:rPr>
              <a:t>Yes. Someone on the ABP team owns your question end to end.</a:t>
            </a:r>
            <a:endParaRPr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8"/>
          <p:cNvSpPr txBox="1"/>
          <p:nvPr/>
        </p:nvSpPr>
        <p:spPr>
          <a:xfrm>
            <a:off x="357024" y="1709250"/>
            <a:ext cx="84300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Lexend"/>
              <a:buNone/>
            </a:pPr>
            <a:r>
              <a:rPr b="1" lang="en" sz="33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DailyTalking, a new Volosoft app</a:t>
            </a:r>
            <a:endParaRPr sz="1100"/>
          </a:p>
        </p:txBody>
      </p:sp>
      <p:sp>
        <p:nvSpPr>
          <p:cNvPr id="263" name="Google Shape;263;p38"/>
          <p:cNvSpPr txBox="1"/>
          <p:nvPr/>
        </p:nvSpPr>
        <p:spPr>
          <a:xfrm>
            <a:off x="367650" y="2834250"/>
            <a:ext cx="8250000" cy="7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B1B8C4"/>
              </a:buClr>
              <a:buSzPts val="1300"/>
              <a:buFont typeface="Poppins"/>
              <a:buNone/>
            </a:pPr>
            <a:r>
              <a:rPr lang="en" sz="1300">
                <a:solidFill>
                  <a:srgbClr val="B1B8C4"/>
                </a:solidFill>
                <a:latin typeface="Poppins"/>
                <a:ea typeface="Poppins"/>
                <a:cs typeface="Poppins"/>
                <a:sym typeface="Poppins"/>
              </a:rPr>
              <a:t>Different domain, same philosophy: build what people actually need. It is a signal of where else we are putting our energy.</a:t>
            </a:r>
            <a:endParaRPr>
              <a:solidFill>
                <a:srgbClr val="B1B8C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" name="Google Shape;269;p39" title="d.t 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0938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0"/>
          <p:cNvSpPr txBox="1"/>
          <p:nvPr/>
        </p:nvSpPr>
        <p:spPr>
          <a:xfrm>
            <a:off x="3471009" y="2009250"/>
            <a:ext cx="22020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Font typeface="Lexend"/>
              <a:buNone/>
            </a:pPr>
            <a:r>
              <a:rPr b="1" lang="en" sz="6700">
                <a:solidFill>
                  <a:srgbClr val="E83090"/>
                </a:solidFill>
                <a:latin typeface="Poppins"/>
                <a:ea typeface="Poppins"/>
                <a:cs typeface="Poppins"/>
                <a:sym typeface="Poppins"/>
              </a:rPr>
              <a:t>Q&amp;A</a:t>
            </a:r>
            <a:endParaRPr sz="63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eması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