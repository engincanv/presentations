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y="6858000" cx="12192000"/>
  <p:notesSz cx="6858000" cy="9144000"/>
  <p:embeddedFontLst>
    <p:embeddedFont>
      <p:font typeface="Play"/>
      <p:regular r:id="rId25"/>
      <p:bold r:id="rId26"/>
    </p:embeddedFont>
    <p:embeddedFont>
      <p:font typeface="Poppins"/>
      <p:regular r:id="rId27"/>
      <p:bold r:id="rId28"/>
      <p:italic r:id="rId29"/>
      <p:boldItalic r:id="rId30"/>
    </p:embeddedFont>
    <p:embeddedFont>
      <p:font typeface="Poppins Medium"/>
      <p:regular r:id="rId31"/>
      <p:bold r:id="rId32"/>
      <p:italic r:id="rId33"/>
      <p:boldItalic r:id="rId34"/>
    </p:embeddedFont>
    <p:embeddedFont>
      <p:font typeface="Lexend"/>
      <p:regular r:id="rId35"/>
      <p:bold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7" roundtripDataSignature="AMtx7mi9ZhpgeWzUkfiYKbiq3uRI36zPg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Play-bold.fntdata"/><Relationship Id="rId25" Type="http://schemas.openxmlformats.org/officeDocument/2006/relationships/font" Target="fonts/Play-regular.fntdata"/><Relationship Id="rId28" Type="http://schemas.openxmlformats.org/officeDocument/2006/relationships/font" Target="fonts/Poppins-bold.fntdata"/><Relationship Id="rId27" Type="http://schemas.openxmlformats.org/officeDocument/2006/relationships/font" Target="fonts/Poppins-regular.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Poppins-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PoppinsMedium-regular.fntdata"/><Relationship Id="rId30" Type="http://schemas.openxmlformats.org/officeDocument/2006/relationships/font" Target="fonts/Poppins-boldItalic.fntdata"/><Relationship Id="rId11" Type="http://schemas.openxmlformats.org/officeDocument/2006/relationships/slide" Target="slides/slide7.xml"/><Relationship Id="rId33" Type="http://schemas.openxmlformats.org/officeDocument/2006/relationships/font" Target="fonts/PoppinsMedium-italic.fntdata"/><Relationship Id="rId10" Type="http://schemas.openxmlformats.org/officeDocument/2006/relationships/slide" Target="slides/slide6.xml"/><Relationship Id="rId32" Type="http://schemas.openxmlformats.org/officeDocument/2006/relationships/font" Target="fonts/PoppinsMedium-bold.fntdata"/><Relationship Id="rId13" Type="http://schemas.openxmlformats.org/officeDocument/2006/relationships/slide" Target="slides/slide9.xml"/><Relationship Id="rId35" Type="http://schemas.openxmlformats.org/officeDocument/2006/relationships/font" Target="fonts/Lexend-regular.fntdata"/><Relationship Id="rId12" Type="http://schemas.openxmlformats.org/officeDocument/2006/relationships/slide" Target="slides/slide8.xml"/><Relationship Id="rId34" Type="http://schemas.openxmlformats.org/officeDocument/2006/relationships/font" Target="fonts/PoppinsMedium-boldItalic.fntdata"/><Relationship Id="rId15" Type="http://schemas.openxmlformats.org/officeDocument/2006/relationships/slide" Target="slides/slide11.xml"/><Relationship Id="rId37" Type="http://customschemas.google.com/relationships/presentationmetadata" Target="metadata"/><Relationship Id="rId14" Type="http://schemas.openxmlformats.org/officeDocument/2006/relationships/slide" Target="slides/slide10.xml"/><Relationship Id="rId36" Type="http://schemas.openxmlformats.org/officeDocument/2006/relationships/font" Target="fonts/Lexend-bold.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tr-TR"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bp.io/community/announcements/announcing-abp-10-0-release-candidate-86lrnyox"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ithub.com/abpframework/abp/issues/23055" TargetMode="External"/><Relationship Id="rId3" Type="http://schemas.openxmlformats.org/officeDocument/2006/relationships/hyperlink" Target="https://github.com/abpframework/abp/pull/23416"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bp.io/community"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chemeClr val="dk1"/>
              </a:buClr>
              <a:buSzPts val="1100"/>
              <a:buFont typeface="Arial"/>
              <a:buNone/>
            </a:pPr>
            <a:r>
              <a:rPr lang="tr-TR" sz="1900" u="sng">
                <a:solidFill>
                  <a:schemeClr val="hlink"/>
                </a:solidFill>
                <a:latin typeface="Poppins"/>
                <a:ea typeface="Poppins"/>
                <a:cs typeface="Poppins"/>
                <a:sym typeface="Poppins"/>
                <a:hlinkClick r:id="rId2"/>
              </a:rPr>
              <a:t>https://abp.io/community/announcements/announcing-abp-10-0-release-candidate-86lrnyox</a:t>
            </a:r>
            <a:endParaRPr sz="1900">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t/>
            </a:r>
            <a:endParaRPr sz="1900">
              <a:latin typeface="Poppins"/>
              <a:ea typeface="Poppins"/>
              <a:cs typeface="Poppins"/>
              <a:sym typeface="Poppins"/>
            </a:endParaRPr>
          </a:p>
        </p:txBody>
      </p:sp>
      <p:sp>
        <p:nvSpPr>
          <p:cNvPr id="105" name="Google Shape;10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494f8583c9_0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1200"/>
              </a:spcAft>
              <a:buClr>
                <a:schemeClr val="dk1"/>
              </a:buClr>
              <a:buSzPts val="1100"/>
              <a:buFont typeface="Arial"/>
              <a:buNone/>
            </a:pPr>
            <a:r>
              <a:t/>
            </a:r>
            <a:endParaRPr>
              <a:solidFill>
                <a:srgbClr val="69707B"/>
              </a:solidFill>
              <a:highlight>
                <a:srgbClr val="FFFFFF"/>
              </a:highlight>
              <a:latin typeface="Poppins"/>
              <a:ea typeface="Poppins"/>
              <a:cs typeface="Poppins"/>
              <a:sym typeface="Poppins"/>
            </a:endParaRPr>
          </a:p>
        </p:txBody>
      </p:sp>
      <p:sp>
        <p:nvSpPr>
          <p:cNvPr id="114" name="Google Shape;114;g3494f8583c9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a2f9e079f2_0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1200"/>
              </a:spcAft>
              <a:buClr>
                <a:schemeClr val="dk1"/>
              </a:buClr>
              <a:buSzPts val="1100"/>
              <a:buFont typeface="Arial"/>
              <a:buNone/>
            </a:pPr>
            <a:r>
              <a:t/>
            </a:r>
            <a:endParaRPr>
              <a:solidFill>
                <a:srgbClr val="69707B"/>
              </a:solidFill>
              <a:highlight>
                <a:srgbClr val="FFFFFF"/>
              </a:highlight>
              <a:latin typeface="Poppins"/>
              <a:ea typeface="Poppins"/>
              <a:cs typeface="Poppins"/>
              <a:sym typeface="Poppins"/>
            </a:endParaRPr>
          </a:p>
        </p:txBody>
      </p:sp>
      <p:sp>
        <p:nvSpPr>
          <p:cNvPr id="120" name="Google Shape;120;g3a2f9e079f2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a2f9e079f2_0_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1200"/>
              </a:spcAft>
              <a:buClr>
                <a:schemeClr val="dk1"/>
              </a:buClr>
              <a:buSzPts val="1100"/>
              <a:buFont typeface="Arial"/>
              <a:buNone/>
            </a:pPr>
            <a:r>
              <a:t/>
            </a:r>
            <a:endParaRPr>
              <a:solidFill>
                <a:srgbClr val="69707B"/>
              </a:solidFill>
              <a:highlight>
                <a:srgbClr val="FFFFFF"/>
              </a:highlight>
              <a:latin typeface="Poppins"/>
              <a:ea typeface="Poppins"/>
              <a:cs typeface="Poppins"/>
              <a:sym typeface="Poppins"/>
            </a:endParaRPr>
          </a:p>
        </p:txBody>
      </p:sp>
      <p:sp>
        <p:nvSpPr>
          <p:cNvPr id="130" name="Google Shape;130;g3a2f9e079f2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494f8583c9_0_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SzPts val="1100"/>
              <a:buNone/>
            </a:pPr>
            <a:r>
              <a:t/>
            </a:r>
            <a:endParaRPr sz="700"/>
          </a:p>
        </p:txBody>
      </p:sp>
      <p:sp>
        <p:nvSpPr>
          <p:cNvPr id="138" name="Google Shape;138;g3494f8583c9_0_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494f8583c9_0_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457200" rtl="0" algn="l">
              <a:lnSpc>
                <a:spcPct val="150000"/>
              </a:lnSpc>
              <a:spcBef>
                <a:spcPts val="0"/>
              </a:spcBef>
              <a:spcAft>
                <a:spcPts val="0"/>
              </a:spcAft>
              <a:buSzPts val="1400"/>
              <a:buNone/>
            </a:pPr>
            <a:r>
              <a:t/>
            </a:r>
            <a:endParaRPr sz="700"/>
          </a:p>
        </p:txBody>
      </p:sp>
      <p:sp>
        <p:nvSpPr>
          <p:cNvPr id="144" name="Google Shape;144;g3494f8583c9_0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a2adfba100_0_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457200" rtl="0" algn="l">
              <a:lnSpc>
                <a:spcPct val="150000"/>
              </a:lnSpc>
              <a:spcBef>
                <a:spcPts val="0"/>
              </a:spcBef>
              <a:spcAft>
                <a:spcPts val="0"/>
              </a:spcAft>
              <a:buSzPts val="1400"/>
              <a:buNone/>
            </a:pPr>
            <a:r>
              <a:t/>
            </a:r>
            <a:endParaRPr sz="700"/>
          </a:p>
        </p:txBody>
      </p:sp>
      <p:sp>
        <p:nvSpPr>
          <p:cNvPr id="150" name="Google Shape;150;g3a2adfba100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a2f9e079f2_0_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SzPts val="1100"/>
              <a:buNone/>
            </a:pPr>
            <a:r>
              <a:t/>
            </a:r>
            <a:endParaRPr sz="700"/>
          </a:p>
        </p:txBody>
      </p:sp>
      <p:sp>
        <p:nvSpPr>
          <p:cNvPr id="157" name="Google Shape;157;g3a2f9e079f2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a2f9e079f2_0_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SzPts val="1100"/>
              <a:buNone/>
            </a:pPr>
            <a:r>
              <a:t/>
            </a:r>
            <a:endParaRPr sz="700"/>
          </a:p>
        </p:txBody>
      </p:sp>
      <p:sp>
        <p:nvSpPr>
          <p:cNvPr id="163" name="Google Shape;163;g3a2f9e079f2_0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a2f9e079f2_0_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SzPts val="1100"/>
              <a:buNone/>
            </a:pPr>
            <a:r>
              <a:t/>
            </a:r>
            <a:endParaRPr sz="700"/>
          </a:p>
        </p:txBody>
      </p:sp>
      <p:sp>
        <p:nvSpPr>
          <p:cNvPr id="170" name="Google Shape;170;g3a2f9e079f2_0_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a2f9e079f2_0_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SzPts val="1100"/>
              <a:buNone/>
            </a:pPr>
            <a:r>
              <a:rPr lang="tr-TR">
                <a:solidFill>
                  <a:srgbClr val="69707B"/>
                </a:solidFill>
                <a:highlight>
                  <a:srgbClr val="FFFFFF"/>
                </a:highlight>
                <a:latin typeface="Poppins"/>
                <a:ea typeface="Poppins"/>
                <a:cs typeface="Poppins"/>
                <a:sym typeface="Poppins"/>
              </a:rPr>
              <a:t>ABP now supports nested objects (and arrays) in JSON localization files, allowing you to organize translations hierarchically and access them using the double underscore (</a:t>
            </a:r>
            <a:r>
              <a:rPr lang="tr-TR" sz="1050">
                <a:solidFill>
                  <a:srgbClr val="D63384"/>
                </a:solidFill>
                <a:latin typeface="Courier New"/>
                <a:ea typeface="Courier New"/>
                <a:cs typeface="Courier New"/>
                <a:sym typeface="Courier New"/>
              </a:rPr>
              <a:t>__</a:t>
            </a:r>
            <a:r>
              <a:rPr lang="tr-TR">
                <a:solidFill>
                  <a:srgbClr val="69707B"/>
                </a:solidFill>
                <a:highlight>
                  <a:srgbClr val="FFFFFF"/>
                </a:highlight>
                <a:latin typeface="Poppins"/>
                <a:ea typeface="Poppins"/>
                <a:cs typeface="Poppins"/>
                <a:sym typeface="Poppins"/>
              </a:rPr>
              <a:t>) separator. This improves maintainability for larger resource files and aligns lookups with familiar key paths.</a:t>
            </a:r>
            <a:endParaRPr sz="700"/>
          </a:p>
        </p:txBody>
      </p:sp>
      <p:sp>
        <p:nvSpPr>
          <p:cNvPr id="180" name="Google Shape;180;g3a2f9e079f2_0_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a2f9e079f2_0_6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SzPts val="1100"/>
              <a:buNone/>
            </a:pPr>
            <a:r>
              <a:t/>
            </a:r>
            <a:endParaRPr sz="700"/>
          </a:p>
        </p:txBody>
      </p:sp>
      <p:sp>
        <p:nvSpPr>
          <p:cNvPr id="187" name="Google Shape;187;g3a2f9e079f2_0_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a2f9e079f2_0_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SzPts val="1100"/>
              <a:buNone/>
            </a:pPr>
            <a:r>
              <a:rPr lang="tr-TR">
                <a:solidFill>
                  <a:srgbClr val="69707B"/>
                </a:solidFill>
                <a:highlight>
                  <a:srgbClr val="FFFFFF"/>
                </a:highlight>
                <a:latin typeface="Poppins"/>
                <a:ea typeface="Poppins"/>
                <a:cs typeface="Poppins"/>
                <a:sym typeface="Poppins"/>
              </a:rPr>
              <a:t>ABP Angular templates now support Server-Side Rendering (SSR) with the Angular Application Builder, enabling hybrid rendering (SSR + CSR) for improved first paint, SEO and perceived performance. This includes SSR-safe platform checks (no direct </a:t>
            </a:r>
            <a:r>
              <a:rPr lang="tr-TR" sz="1050">
                <a:solidFill>
                  <a:srgbClr val="D63384"/>
                </a:solidFill>
                <a:latin typeface="Courier New"/>
                <a:ea typeface="Courier New"/>
                <a:cs typeface="Courier New"/>
                <a:sym typeface="Courier New"/>
              </a:rPr>
              <a:t>window</a:t>
            </a:r>
            <a:r>
              <a:rPr lang="tr-TR">
                <a:solidFill>
                  <a:srgbClr val="69707B"/>
                </a:solidFill>
                <a:highlight>
                  <a:srgbClr val="FFFFFF"/>
                </a:highlight>
                <a:latin typeface="Poppins"/>
                <a:ea typeface="Poppins"/>
                <a:cs typeface="Poppins"/>
                <a:sym typeface="Poppins"/>
              </a:rPr>
              <a:t>/</a:t>
            </a:r>
            <a:r>
              <a:rPr lang="tr-TR" sz="1050">
                <a:solidFill>
                  <a:srgbClr val="D63384"/>
                </a:solidFill>
                <a:latin typeface="Courier New"/>
                <a:ea typeface="Courier New"/>
                <a:cs typeface="Courier New"/>
                <a:sym typeface="Courier New"/>
              </a:rPr>
              <a:t>location</a:t>
            </a:r>
            <a:r>
              <a:rPr lang="tr-TR">
                <a:solidFill>
                  <a:srgbClr val="69707B"/>
                </a:solidFill>
                <a:highlight>
                  <a:srgbClr val="FFFFFF"/>
                </a:highlight>
                <a:latin typeface="Poppins"/>
                <a:ea typeface="Poppins"/>
                <a:cs typeface="Poppins"/>
                <a:sym typeface="Poppins"/>
              </a:rPr>
              <a:t>/</a:t>
            </a:r>
            <a:r>
              <a:rPr lang="tr-TR" sz="1050">
                <a:solidFill>
                  <a:srgbClr val="D63384"/>
                </a:solidFill>
                <a:latin typeface="Courier New"/>
                <a:ea typeface="Courier New"/>
                <a:cs typeface="Courier New"/>
                <a:sym typeface="Courier New"/>
              </a:rPr>
              <a:t>localStorage</a:t>
            </a:r>
            <a:r>
              <a:rPr lang="tr-TR">
                <a:solidFill>
                  <a:srgbClr val="69707B"/>
                </a:solidFill>
                <a:highlight>
                  <a:srgbClr val="FFFFFF"/>
                </a:highlight>
                <a:latin typeface="Poppins"/>
                <a:ea typeface="Poppins"/>
                <a:cs typeface="Poppins"/>
                <a:sym typeface="Poppins"/>
              </a:rPr>
              <a:t>), OIDC auth compatibility via cookie-backed storage, and </a:t>
            </a:r>
            <a:r>
              <a:rPr lang="tr-TR" sz="1050">
                <a:solidFill>
                  <a:srgbClr val="D63384"/>
                </a:solidFill>
                <a:latin typeface="Courier New"/>
                <a:ea typeface="Courier New"/>
                <a:cs typeface="Courier New"/>
                <a:sym typeface="Courier New"/>
              </a:rPr>
              <a:t>TransferState</a:t>
            </a:r>
            <a:r>
              <a:rPr lang="tr-TR">
                <a:solidFill>
                  <a:srgbClr val="69707B"/>
                </a:solidFill>
                <a:highlight>
                  <a:srgbClr val="FFFFFF"/>
                </a:highlight>
                <a:latin typeface="Poppins"/>
                <a:ea typeface="Poppins"/>
                <a:cs typeface="Poppins"/>
                <a:sym typeface="Poppins"/>
              </a:rPr>
              <a:t> to prevent duplicate HTTP GETs during hydration. For implementation highlights and usage (including how to run the SSR dev server and the </a:t>
            </a:r>
            <a:r>
              <a:rPr lang="tr-TR" sz="1050">
                <a:solidFill>
                  <a:srgbClr val="D63384"/>
                </a:solidFill>
                <a:latin typeface="Courier New"/>
                <a:ea typeface="Courier New"/>
                <a:cs typeface="Courier New"/>
                <a:sym typeface="Courier New"/>
              </a:rPr>
              <a:t>transferStateInterceptor</a:t>
            </a:r>
            <a:r>
              <a:rPr lang="tr-TR">
                <a:solidFill>
                  <a:srgbClr val="69707B"/>
                </a:solidFill>
                <a:highlight>
                  <a:srgbClr val="FFFFFF"/>
                </a:highlight>
                <a:latin typeface="Poppins"/>
                <a:ea typeface="Poppins"/>
                <a:cs typeface="Poppins"/>
                <a:sym typeface="Poppins"/>
              </a:rPr>
              <a:t>), see the issue and PR: </a:t>
            </a:r>
            <a:r>
              <a:rPr lang="tr-TR">
                <a:solidFill>
                  <a:srgbClr val="3A82F6"/>
                </a:solidFill>
                <a:highlight>
                  <a:srgbClr val="FFFFFF"/>
                </a:highlight>
                <a:uFill>
                  <a:noFill/>
                </a:uFill>
                <a:latin typeface="Poppins"/>
                <a:ea typeface="Poppins"/>
                <a:cs typeface="Poppins"/>
                <a:sym typeface="Poppins"/>
                <a:hlinkClick r:id="rId2">
                  <a:extLst>
                    <a:ext uri="{A12FA001-AC4F-418D-AE19-62706E023703}">
                      <ahyp:hlinkClr val="tx"/>
                    </a:ext>
                  </a:extLst>
                </a:hlinkClick>
              </a:rPr>
              <a:t>Angular SSR</a:t>
            </a:r>
            <a:r>
              <a:rPr lang="tr-TR">
                <a:solidFill>
                  <a:srgbClr val="69707B"/>
                </a:solidFill>
                <a:highlight>
                  <a:srgbClr val="FFFFFF"/>
                </a:highlight>
                <a:latin typeface="Poppins"/>
                <a:ea typeface="Poppins"/>
                <a:cs typeface="Poppins"/>
                <a:sym typeface="Poppins"/>
              </a:rPr>
              <a:t>, </a:t>
            </a:r>
            <a:r>
              <a:rPr lang="tr-TR">
                <a:solidFill>
                  <a:srgbClr val="3A82F6"/>
                </a:solidFill>
                <a:highlight>
                  <a:srgbClr val="FFFFFF"/>
                </a:highlight>
                <a:uFill>
                  <a:noFill/>
                </a:uFill>
                <a:latin typeface="Poppins"/>
                <a:ea typeface="Poppins"/>
                <a:cs typeface="Poppins"/>
                <a:sym typeface="Poppins"/>
                <a:hlinkClick r:id="rId3">
                  <a:extLst>
                    <a:ext uri="{A12FA001-AC4F-418D-AE19-62706E023703}">
                      <ahyp:hlinkClr val="tx"/>
                    </a:ext>
                  </a:extLst>
                </a:hlinkClick>
              </a:rPr>
              <a:t>Hybrid Rendering &amp; Application Builder</a:t>
            </a:r>
            <a:r>
              <a:rPr lang="tr-TR">
                <a:solidFill>
                  <a:srgbClr val="69707B"/>
                </a:solidFill>
                <a:highlight>
                  <a:srgbClr val="FFFFFF"/>
                </a:highlight>
                <a:latin typeface="Poppins"/>
                <a:ea typeface="Poppins"/>
                <a:cs typeface="Poppins"/>
                <a:sym typeface="Poppins"/>
              </a:rPr>
              <a:t>.</a:t>
            </a:r>
            <a:endParaRPr sz="700"/>
          </a:p>
        </p:txBody>
      </p:sp>
      <p:sp>
        <p:nvSpPr>
          <p:cNvPr id="194" name="Google Shape;194;g3a2f9e079f2_0_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494f8583c9_0_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SzPts val="1100"/>
              <a:buNone/>
            </a:pPr>
            <a:r>
              <a:t/>
            </a:r>
            <a:endParaRPr sz="1900">
              <a:latin typeface="Poppins"/>
              <a:ea typeface="Poppins"/>
              <a:cs typeface="Poppins"/>
              <a:sym typeface="Poppins"/>
            </a:endParaRPr>
          </a:p>
        </p:txBody>
      </p:sp>
      <p:sp>
        <p:nvSpPr>
          <p:cNvPr id="200" name="Google Shape;200;g3494f8583c9_0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4973623901_0_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chemeClr val="dk1"/>
              </a:buClr>
              <a:buSzPts val="1100"/>
              <a:buFont typeface="Arial"/>
              <a:buNone/>
            </a:pPr>
            <a:r>
              <a:t/>
            </a:r>
            <a:endParaRPr sz="700"/>
          </a:p>
        </p:txBody>
      </p:sp>
      <p:sp>
        <p:nvSpPr>
          <p:cNvPr id="209" name="Google Shape;209;g34973623901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4973623901_0_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chemeClr val="dk1"/>
              </a:buClr>
              <a:buSzPts val="1100"/>
              <a:buFont typeface="Arial"/>
              <a:buNone/>
            </a:pPr>
            <a:r>
              <a:rPr lang="tr-TR" sz="1900" u="sng">
                <a:solidFill>
                  <a:schemeClr val="hlink"/>
                </a:solidFill>
                <a:latin typeface="Poppins"/>
                <a:ea typeface="Poppins"/>
                <a:cs typeface="Poppins"/>
                <a:sym typeface="Poppins"/>
                <a:hlinkClick r:id="rId2"/>
              </a:rPr>
              <a:t>https://abp.io/community</a:t>
            </a:r>
            <a:endParaRPr sz="1900">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t/>
            </a:r>
            <a:endParaRPr sz="1900">
              <a:latin typeface="Poppins"/>
              <a:ea typeface="Poppins"/>
              <a:cs typeface="Poppins"/>
              <a:sym typeface="Poppins"/>
            </a:endParaRPr>
          </a:p>
        </p:txBody>
      </p:sp>
      <p:sp>
        <p:nvSpPr>
          <p:cNvPr id="215" name="Google Shape;215;g34973623901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6a76edf6e9_0_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SzPts val="1400"/>
              <a:buNone/>
            </a:pPr>
            <a:r>
              <a:t/>
            </a:r>
            <a:endParaRPr sz="700"/>
          </a:p>
        </p:txBody>
      </p:sp>
      <p:sp>
        <p:nvSpPr>
          <p:cNvPr id="223" name="Google Shape;223;g36a76edf6e9_0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4973623901_0_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SzPts val="1400"/>
              <a:buNone/>
            </a:pPr>
            <a:r>
              <a:rPr lang="tr-TR">
                <a:solidFill>
                  <a:srgbClr val="69707B"/>
                </a:solidFill>
                <a:highlight>
                  <a:srgbClr val="FFFFFF"/>
                </a:highlight>
                <a:latin typeface="Poppins"/>
                <a:ea typeface="Poppins"/>
                <a:cs typeface="Poppins"/>
                <a:sym typeface="Poppins"/>
              </a:rPr>
              <a:t>We’ve started a weekly live webinar series designed for developers who want to get the most out of the ABP Platform. This event is designed for those new to ABP to help you understand its core features, capabilities, and licensing models.</a:t>
            </a:r>
            <a:endParaRPr>
              <a:solidFill>
                <a:srgbClr val="69707B"/>
              </a:solidFill>
              <a:highlight>
                <a:srgbClr val="FFFFFF"/>
              </a:highlight>
              <a:latin typeface="Poppins"/>
              <a:ea typeface="Poppins"/>
              <a:cs typeface="Poppins"/>
              <a:sym typeface="Poppins"/>
            </a:endParaRPr>
          </a:p>
          <a:p>
            <a:pPr indent="0" lvl="0" marL="0" rtl="0" algn="l">
              <a:lnSpc>
                <a:spcPct val="150000"/>
              </a:lnSpc>
              <a:spcBef>
                <a:spcPts val="0"/>
              </a:spcBef>
              <a:spcAft>
                <a:spcPts val="0"/>
              </a:spcAft>
              <a:buSzPts val="1400"/>
              <a:buNone/>
            </a:pPr>
            <a:r>
              <a:t/>
            </a:r>
            <a:endParaRPr>
              <a:solidFill>
                <a:srgbClr val="69707B"/>
              </a:solidFill>
              <a:highlight>
                <a:srgbClr val="FFFFFF"/>
              </a:highlight>
              <a:latin typeface="Poppins"/>
              <a:ea typeface="Poppins"/>
              <a:cs typeface="Poppins"/>
              <a:sym typeface="Poppins"/>
            </a:endParaRPr>
          </a:p>
          <a:p>
            <a:pPr indent="0" lvl="0" marL="0" rtl="0" algn="l">
              <a:lnSpc>
                <a:spcPct val="150000"/>
              </a:lnSpc>
              <a:spcBef>
                <a:spcPts val="0"/>
              </a:spcBef>
              <a:spcAft>
                <a:spcPts val="0"/>
              </a:spcAft>
              <a:buSzPts val="1400"/>
              <a:buNone/>
            </a:pPr>
            <a:r>
              <a:rPr lang="tr-TR">
                <a:solidFill>
                  <a:srgbClr val="69707B"/>
                </a:solidFill>
                <a:highlight>
                  <a:srgbClr val="FFFFFF"/>
                </a:highlight>
                <a:latin typeface="Poppins"/>
                <a:ea typeface="Poppins"/>
                <a:cs typeface="Poppins"/>
                <a:sym typeface="Poppins"/>
              </a:rPr>
              <a:t>Every webinar features live coding demos, practical examples, and an open Q&amp;A segment where you can get your questions answered directly by the ABP team. Whether you’re just starting with ABP or looking to explore advanced scenarios, these sessions will help you build better apps faster.</a:t>
            </a:r>
            <a:endParaRPr>
              <a:solidFill>
                <a:srgbClr val="69707B"/>
              </a:solidFill>
              <a:highlight>
                <a:srgbClr val="FFFFFF"/>
              </a:highlight>
              <a:latin typeface="Poppins"/>
              <a:ea typeface="Poppins"/>
              <a:cs typeface="Poppins"/>
              <a:sym typeface="Poppins"/>
            </a:endParaRPr>
          </a:p>
        </p:txBody>
      </p:sp>
      <p:sp>
        <p:nvSpPr>
          <p:cNvPr id="229" name="Google Shape;229;g34973623901_0_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tr-TR" sz="1100"/>
              <a:t>Thanks everyone for following along with the ABP 9.3 highlights and the latest updates from the community.</a:t>
            </a:r>
            <a:endParaRPr sz="1100"/>
          </a:p>
          <a:p>
            <a:pPr indent="0" lvl="0" marL="0" rtl="0" algn="l">
              <a:lnSpc>
                <a:spcPct val="115000"/>
              </a:lnSpc>
              <a:spcBef>
                <a:spcPts val="1200"/>
              </a:spcBef>
              <a:spcAft>
                <a:spcPts val="0"/>
              </a:spcAft>
              <a:buClr>
                <a:schemeClr val="dk1"/>
              </a:buClr>
              <a:buSzPts val="1100"/>
              <a:buFont typeface="Arial"/>
              <a:buNone/>
            </a:pPr>
            <a:r>
              <a:rPr lang="tr-TR" sz="1100"/>
              <a:t>As the ABP team, we’re really excited about what’s coming next in this session.</a:t>
            </a:r>
            <a:endParaRPr sz="1100"/>
          </a:p>
          <a:p>
            <a:pPr indent="0" lvl="0" marL="0" rtl="0" algn="l">
              <a:lnSpc>
                <a:spcPct val="115000"/>
              </a:lnSpc>
              <a:spcBef>
                <a:spcPts val="1200"/>
              </a:spcBef>
              <a:spcAft>
                <a:spcPts val="0"/>
              </a:spcAft>
              <a:buClr>
                <a:schemeClr val="dk1"/>
              </a:buClr>
              <a:buSzPts val="1100"/>
              <a:buFont typeface="Arial"/>
              <a:buNone/>
            </a:pPr>
            <a:r>
              <a:rPr lang="tr-TR" sz="1100"/>
              <a:t>We’re happy to welcome our guest speaker </a:t>
            </a:r>
            <a:r>
              <a:rPr b="1" lang="tr-TR" sz="1100"/>
              <a:t>Sipke Schoorstra,</a:t>
            </a:r>
            <a:r>
              <a:rPr lang="tr-TR" sz="1100"/>
              <a:t> (I hope that I’ve pronounced it correctly), the creator of the </a:t>
            </a:r>
            <a:r>
              <a:rPr b="1" lang="tr-TR" sz="1100"/>
              <a:t>Elsa Workflows</a:t>
            </a:r>
            <a:r>
              <a:rPr lang="tr-TR" sz="1100"/>
              <a:t> library. Sipke has been doing great work in the .NET ecosystem, and today he’ll be showing us how to empower </a:t>
            </a:r>
            <a:r>
              <a:rPr b="1" lang="tr-TR" sz="1100"/>
              <a:t>Elsa Workflows with AI</a:t>
            </a:r>
            <a:r>
              <a:rPr lang="tr-TR" sz="1100"/>
              <a:t>, and how the library integrates with ABP-based applications.</a:t>
            </a:r>
            <a:endParaRPr sz="1100"/>
          </a:p>
          <a:p>
            <a:pPr indent="0" lvl="0" marL="0" rtl="0" algn="l">
              <a:lnSpc>
                <a:spcPct val="115000"/>
              </a:lnSpc>
              <a:spcBef>
                <a:spcPts val="1200"/>
              </a:spcBef>
              <a:spcAft>
                <a:spcPts val="0"/>
              </a:spcAft>
              <a:buClr>
                <a:schemeClr val="dk1"/>
              </a:buClr>
              <a:buSzPts val="1100"/>
              <a:buFont typeface="Arial"/>
              <a:buNone/>
            </a:pPr>
            <a:r>
              <a:rPr lang="tr-TR" sz="1100"/>
              <a:t>He also prepared a demo for us, so we’ll get to see everything in action.</a:t>
            </a:r>
            <a:endParaRPr sz="1100"/>
          </a:p>
          <a:p>
            <a:pPr indent="0" lvl="0" marL="0" rtl="0" algn="l">
              <a:lnSpc>
                <a:spcPct val="115000"/>
              </a:lnSpc>
              <a:spcBef>
                <a:spcPts val="1200"/>
              </a:spcBef>
              <a:spcAft>
                <a:spcPts val="0"/>
              </a:spcAft>
              <a:buClr>
                <a:schemeClr val="dk1"/>
              </a:buClr>
              <a:buSzPts val="1100"/>
              <a:buFont typeface="Arial"/>
              <a:buNone/>
            </a:pPr>
            <a:r>
              <a:rPr lang="tr-TR" sz="1100"/>
              <a:t>Feel free to drop your questions in the chat as the session goes on — we’ll try to address them.</a:t>
            </a:r>
            <a:endParaRPr sz="1100"/>
          </a:p>
          <a:p>
            <a:pPr indent="0" lvl="0" marL="0" rtl="0" algn="l">
              <a:lnSpc>
                <a:spcPct val="115000"/>
              </a:lnSpc>
              <a:spcBef>
                <a:spcPts val="1200"/>
              </a:spcBef>
              <a:spcAft>
                <a:spcPts val="0"/>
              </a:spcAft>
              <a:buClr>
                <a:schemeClr val="dk1"/>
              </a:buClr>
              <a:buSzPts val="1100"/>
              <a:buFont typeface="Arial"/>
              <a:buNone/>
            </a:pPr>
            <a:r>
              <a:rPr lang="tr-TR" sz="1100"/>
              <a:t>So, Sipke, over to you!</a:t>
            </a:r>
            <a:endParaRPr sz="1100"/>
          </a:p>
          <a:p>
            <a:pPr indent="0" lvl="0" marL="0" rtl="0" algn="l">
              <a:lnSpc>
                <a:spcPct val="100000"/>
              </a:lnSpc>
              <a:spcBef>
                <a:spcPts val="1200"/>
              </a:spcBef>
              <a:spcAft>
                <a:spcPts val="0"/>
              </a:spcAft>
              <a:buSzPts val="1400"/>
              <a:buNone/>
            </a:pPr>
            <a:r>
              <a:t/>
            </a:r>
            <a:endParaRPr/>
          </a:p>
        </p:txBody>
      </p:sp>
      <p:sp>
        <p:nvSpPr>
          <p:cNvPr id="238" name="Google Shape;23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şlık Slaydı" type="title">
  <p:cSld name="TITLE">
    <p:spTree>
      <p:nvGrpSpPr>
        <p:cNvPr id="15" name="Shape 15"/>
        <p:cNvGrpSpPr/>
        <p:nvPr/>
      </p:nvGrpSpPr>
      <p:grpSpPr>
        <a:xfrm>
          <a:off x="0" y="0"/>
          <a:ext cx="0" cy="0"/>
          <a:chOff x="0" y="0"/>
          <a:chExt cx="0" cy="0"/>
        </a:xfrm>
      </p:grpSpPr>
      <p:sp>
        <p:nvSpPr>
          <p:cNvPr id="16" name="Google Shape;16;p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şlık ve İçerik" type="obj">
  <p:cSld name="OBJECT">
    <p:spTree>
      <p:nvGrpSpPr>
        <p:cNvPr id="21" name="Shape 21"/>
        <p:cNvGrpSpPr/>
        <p:nvPr/>
      </p:nvGrpSpPr>
      <p:grpSpPr>
        <a:xfrm>
          <a:off x="0" y="0"/>
          <a:ext cx="0" cy="0"/>
          <a:chOff x="0" y="0"/>
          <a:chExt cx="0" cy="0"/>
        </a:xfrm>
      </p:grpSpPr>
      <p:sp>
        <p:nvSpPr>
          <p:cNvPr id="22" name="Google Shape;22;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ölüm Üst Bilgisi" type="secHead">
  <p:cSld name="SECTION_HEADER">
    <p:spTree>
      <p:nvGrpSpPr>
        <p:cNvPr id="27" name="Shape 27"/>
        <p:cNvGrpSpPr/>
        <p:nvPr/>
      </p:nvGrpSpPr>
      <p:grpSpPr>
        <a:xfrm>
          <a:off x="0" y="0"/>
          <a:ext cx="0" cy="0"/>
          <a:chOff x="0" y="0"/>
          <a:chExt cx="0" cy="0"/>
        </a:xfrm>
      </p:grpSpPr>
      <p:sp>
        <p:nvSpPr>
          <p:cNvPr id="28" name="Google Shape;28;p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0" name="Google Shape;30;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ki İçerik" type="twoObj">
  <p:cSld name="TWO_OBJECTS">
    <p:spTree>
      <p:nvGrpSpPr>
        <p:cNvPr id="33" name="Shape 33"/>
        <p:cNvGrpSpPr/>
        <p:nvPr/>
      </p:nvGrpSpPr>
      <p:grpSpPr>
        <a:xfrm>
          <a:off x="0" y="0"/>
          <a:ext cx="0" cy="0"/>
          <a:chOff x="0" y="0"/>
          <a:chExt cx="0" cy="0"/>
        </a:xfrm>
      </p:grpSpPr>
      <p:sp>
        <p:nvSpPr>
          <p:cNvPr id="34" name="Google Shape;34;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arşılaştırma" type="twoTxTwoObj">
  <p:cSld name="TWO_OBJECTS_WITH_TEXT">
    <p:spTree>
      <p:nvGrpSpPr>
        <p:cNvPr id="40" name="Shape 40"/>
        <p:cNvGrpSpPr/>
        <p:nvPr/>
      </p:nvGrpSpPr>
      <p:grpSpPr>
        <a:xfrm>
          <a:off x="0" y="0"/>
          <a:ext cx="0" cy="0"/>
          <a:chOff x="0" y="0"/>
          <a:chExt cx="0" cy="0"/>
        </a:xfrm>
      </p:grpSpPr>
      <p:sp>
        <p:nvSpPr>
          <p:cNvPr id="41" name="Google Shape;41;p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Yalnızca Başlık" type="titleOnly">
  <p:cSld name="TITLE_ONLY">
    <p:spTree>
      <p:nvGrpSpPr>
        <p:cNvPr id="49" name="Shape 49"/>
        <p:cNvGrpSpPr/>
        <p:nvPr/>
      </p:nvGrpSpPr>
      <p:grpSpPr>
        <a:xfrm>
          <a:off x="0" y="0"/>
          <a:ext cx="0" cy="0"/>
          <a:chOff x="0" y="0"/>
          <a:chExt cx="0" cy="0"/>
        </a:xfrm>
      </p:grpSpPr>
      <p:sp>
        <p:nvSpPr>
          <p:cNvPr id="50" name="Google Shape;50;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ş" type="blank">
  <p:cSld name="BLANK">
    <p:spTree>
      <p:nvGrpSpPr>
        <p:cNvPr id="54" name="Shape 54"/>
        <p:cNvGrpSpPr/>
        <p:nvPr/>
      </p:nvGrpSpPr>
      <p:grpSpPr>
        <a:xfrm>
          <a:off x="0" y="0"/>
          <a:ext cx="0" cy="0"/>
          <a:chOff x="0" y="0"/>
          <a:chExt cx="0" cy="0"/>
        </a:xfrm>
      </p:grpSpPr>
      <p:sp>
        <p:nvSpPr>
          <p:cNvPr id="55" name="Google Shape;55;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şlıklı İçerik" type="objTx">
  <p:cSld name="OBJECT_WITH_CAPTION_TEXT">
    <p:spTree>
      <p:nvGrpSpPr>
        <p:cNvPr id="58" name="Shape 58"/>
        <p:cNvGrpSpPr/>
        <p:nvPr/>
      </p:nvGrpSpPr>
      <p:grpSpPr>
        <a:xfrm>
          <a:off x="0" y="0"/>
          <a:ext cx="0" cy="0"/>
          <a:chOff x="0" y="0"/>
          <a:chExt cx="0" cy="0"/>
        </a:xfrm>
      </p:grpSpPr>
      <p:sp>
        <p:nvSpPr>
          <p:cNvPr id="59" name="Google Shape;59;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şlıklı Resim" type="picTx">
  <p:cSld name="PICTURE_WITH_CAPTION_TEXT">
    <p:spTree>
      <p:nvGrpSpPr>
        <p:cNvPr id="65" name="Shape 65"/>
        <p:cNvGrpSpPr/>
        <p:nvPr/>
      </p:nvGrpSpPr>
      <p:grpSpPr>
        <a:xfrm>
          <a:off x="0" y="0"/>
          <a:ext cx="0" cy="0"/>
          <a:chOff x="0" y="0"/>
          <a:chExt cx="0" cy="0"/>
        </a:xfrm>
      </p:grpSpPr>
      <p:sp>
        <p:nvSpPr>
          <p:cNvPr id="66" name="Google Shape;66;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3"/>
          <p:cNvSpPr/>
          <p:nvPr>
            <p:ph idx="2" type="pic"/>
          </p:nvPr>
        </p:nvSpPr>
        <p:spPr>
          <a:xfrm>
            <a:off x="5183188" y="987425"/>
            <a:ext cx="6172200" cy="4873625"/>
          </a:xfrm>
          <a:prstGeom prst="rect">
            <a:avLst/>
          </a:prstGeom>
          <a:noFill/>
          <a:ln>
            <a:noFill/>
          </a:ln>
        </p:spPr>
      </p:sp>
      <p:sp>
        <p:nvSpPr>
          <p:cNvPr id="68" name="Google Shape;68;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şlık ve Dikey Metin" type="vertTx">
  <p:cSld name="VERTICAL_TEXT">
    <p:spTree>
      <p:nvGrpSpPr>
        <p:cNvPr id="72" name="Shape 72"/>
        <p:cNvGrpSpPr/>
        <p:nvPr/>
      </p:nvGrpSpPr>
      <p:grpSpPr>
        <a:xfrm>
          <a:off x="0" y="0"/>
          <a:ext cx="0" cy="0"/>
          <a:chOff x="0" y="0"/>
          <a:chExt cx="0" cy="0"/>
        </a:xfrm>
      </p:grpSpPr>
      <p:sp>
        <p:nvSpPr>
          <p:cNvPr id="73" name="Google Shape;73;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key Başlık ve Metin" type="vertTitleAndTx">
  <p:cSld name="VERTICAL_TITLE_AND_VERTICAL_TEXT">
    <p:spTree>
      <p:nvGrpSpPr>
        <p:cNvPr id="78" name="Shape 78"/>
        <p:cNvGrpSpPr/>
        <p:nvPr/>
      </p:nvGrpSpPr>
      <p:grpSpPr>
        <a:xfrm>
          <a:off x="0" y="0"/>
          <a:ext cx="0" cy="0"/>
          <a:chOff x="0" y="0"/>
          <a:chExt cx="0" cy="0"/>
        </a:xfrm>
      </p:grpSpPr>
      <p:sp>
        <p:nvSpPr>
          <p:cNvPr id="79" name="Google Shape;79;p1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tr-T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 Id="rId4" Type="http://schemas.openxmlformats.org/officeDocument/2006/relationships/image" Target="../media/image5.png"/><Relationship Id="rId11" Type="http://schemas.openxmlformats.org/officeDocument/2006/relationships/image" Target="../media/image8.png"/><Relationship Id="rId10" Type="http://schemas.openxmlformats.org/officeDocument/2006/relationships/hyperlink" Target="http://engincanveske.substack.com" TargetMode="External"/><Relationship Id="rId12" Type="http://schemas.openxmlformats.org/officeDocument/2006/relationships/hyperlink" Target="https://www.youtube.com/@engincanv" TargetMode="External"/><Relationship Id="rId9" Type="http://schemas.openxmlformats.org/officeDocument/2006/relationships/image" Target="../media/image14.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hyperlink" Target="https://x.com/EngincanVeske" TargetMode="External"/><Relationship Id="rId8" Type="http://schemas.openxmlformats.org/officeDocument/2006/relationships/hyperlink" Target="https://github.com/EngincanV"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5.png"/><Relationship Id="rId4" Type="http://schemas.openxmlformats.org/officeDocument/2006/relationships/image" Target="../media/image1.png"/><Relationship Id="rId5" Type="http://schemas.openxmlformats.org/officeDocument/2006/relationships/image" Target="../media/image1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5.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5.png"/><Relationship Id="rId4" Type="http://schemas.openxmlformats.org/officeDocument/2006/relationships/image" Target="../media/image13.png"/><Relationship Id="rId5" Type="http://schemas.openxmlformats.org/officeDocument/2006/relationships/image" Target="../media/image11.png"/><Relationship Id="rId6"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hyperlink" Target="https://learn.microsoft.com/en-us/aspnet/core/migration/90-to-100?view=aspnetcore-10.0" TargetMode="External"/><Relationship Id="rId5" Type="http://schemas.openxmlformats.org/officeDocument/2006/relationships/hyperlink" Target="https://learn.microsoft.com/en-us/dotnet/core/compatibility/10.0" TargetMode="External"/><Relationship Id="rId6" Type="http://schemas.openxmlformats.org/officeDocument/2006/relationships/hyperlink" Target="https://abp.io/docs/10.0/release-info/migration-guides/abp-10-0" TargetMode="External"/><Relationship Id="rId7" Type="http://schemas.openxmlformats.org/officeDocument/2006/relationships/image" Target="../media/image16.png"/><Relationship Id="rId8"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5.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5.png"/><Relationship Id="rId4" Type="http://schemas.openxmlformats.org/officeDocument/2006/relationships/hyperlink" Target="https://abp.io/docs/10.0/samples/elsa-workflows-demo" TargetMode="External"/><Relationship Id="rId5" Type="http://schemas.openxmlformats.org/officeDocument/2006/relationships/hyperlink" Target="https://abp.io/docs/10.0/modules/elsa-pro" TargetMode="External"/><Relationship Id="rId6" Type="http://schemas.openxmlformats.org/officeDocument/2006/relationships/image" Target="../media/image35.png"/><Relationship Id="rId7" Type="http://schemas.openxmlformats.org/officeDocument/2006/relationships/image" Target="../media/image3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5.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5.png"/><Relationship Id="rId4" Type="http://schemas.openxmlformats.org/officeDocument/2006/relationships/image" Target="../media/image31.png"/><Relationship Id="rId5" Type="http://schemas.openxmlformats.org/officeDocument/2006/relationships/image" Target="../media/image1.png"/><Relationship Id="rId6" Type="http://schemas.openxmlformats.org/officeDocument/2006/relationships/image" Target="../media/image17.png"/><Relationship Id="rId7"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image" Target="../media/image26.png"/><Relationship Id="rId5" Type="http://schemas.openxmlformats.org/officeDocument/2006/relationships/image" Target="../media/image3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5.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5.png"/><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5.png"/><Relationship Id="rId4" Type="http://schemas.openxmlformats.org/officeDocument/2006/relationships/hyperlink" Target="https://learn.microsoft.com/en-us/aspnet/core/migration/90-to-100" TargetMode="External"/><Relationship Id="rId9" Type="http://schemas.openxmlformats.org/officeDocument/2006/relationships/image" Target="../media/image27.png"/><Relationship Id="rId5" Type="http://schemas.openxmlformats.org/officeDocument/2006/relationships/hyperlink" Target="https://learn.microsoft.com/en-us/aspnet/core/migration/90-to-100" TargetMode="External"/><Relationship Id="rId6" Type="http://schemas.openxmlformats.org/officeDocument/2006/relationships/hyperlink" Target="https://learn.microsoft.com/en-us/aspnet/core/migration/90-to-100" TargetMode="External"/><Relationship Id="rId7" Type="http://schemas.openxmlformats.org/officeDocument/2006/relationships/hyperlink" Target="https://abp.io/docs/10.0/release-info/migration-guides/AutoMapper-To-Mapperly" TargetMode="External"/><Relationship Id="rId8"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5.png"/><Relationship Id="rId4" Type="http://schemas.openxmlformats.org/officeDocument/2006/relationships/image" Target="../media/image32.png"/><Relationship Id="rId5" Type="http://schemas.openxmlformats.org/officeDocument/2006/relationships/hyperlink" Target="https://abp.io/community/"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5.png"/><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5.png"/><Relationship Id="rId4" Type="http://schemas.openxmlformats.org/officeDocument/2006/relationships/image" Target="../media/image1.png"/><Relationship Id="rId5" Type="http://schemas.openxmlformats.org/officeDocument/2006/relationships/image" Target="../media/image29.png"/><Relationship Id="rId6"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7" name="Shape 87"/>
        <p:cNvGrpSpPr/>
        <p:nvPr/>
      </p:nvGrpSpPr>
      <p:grpSpPr>
        <a:xfrm>
          <a:off x="0" y="0"/>
          <a:ext cx="0" cy="0"/>
          <a:chOff x="0" y="0"/>
          <a:chExt cx="0" cy="0"/>
        </a:xfrm>
      </p:grpSpPr>
      <p:pic>
        <p:nvPicPr>
          <p:cNvPr descr="grafik, daire, grafik tasarım, ekran görüntüsü içeren bir resim&#10;&#10;Açıklama otomatik olarak oluşturuldu" id="88" name="Google Shape;88;p1"/>
          <p:cNvPicPr preferRelativeResize="0"/>
          <p:nvPr/>
        </p:nvPicPr>
        <p:blipFill rotWithShape="1">
          <a:blip r:embed="rId4">
            <a:alphaModFix/>
          </a:blip>
          <a:srcRect b="0" l="0" r="0" t="0"/>
          <a:stretch/>
        </p:blipFill>
        <p:spPr>
          <a:xfrm>
            <a:off x="794741" y="810794"/>
            <a:ext cx="2396890" cy="642598"/>
          </a:xfrm>
          <a:prstGeom prst="rect">
            <a:avLst/>
          </a:prstGeom>
          <a:noFill/>
          <a:ln>
            <a:noFill/>
          </a:ln>
        </p:spPr>
      </p:pic>
      <p:sp>
        <p:nvSpPr>
          <p:cNvPr id="89" name="Google Shape;89;p1"/>
          <p:cNvSpPr txBox="1"/>
          <p:nvPr/>
        </p:nvSpPr>
        <p:spPr>
          <a:xfrm>
            <a:off x="794750" y="2290201"/>
            <a:ext cx="10345200" cy="15963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C0C0C"/>
              </a:buClr>
              <a:buSzPts val="4500"/>
              <a:buFont typeface="Lexend"/>
              <a:buNone/>
            </a:pPr>
            <a:r>
              <a:rPr b="1" i="0" lang="tr-TR" sz="5500" u="none" cap="none" strike="noStrike">
                <a:solidFill>
                  <a:srgbClr val="0C0C0C"/>
                </a:solidFill>
                <a:latin typeface="Lexend"/>
                <a:ea typeface="Lexend"/>
                <a:cs typeface="Lexend"/>
                <a:sym typeface="Lexend"/>
              </a:rPr>
              <a:t>ABP </a:t>
            </a:r>
            <a:r>
              <a:rPr b="1" i="0" lang="tr-TR" sz="5500" u="none" cap="none" strike="noStrike">
                <a:solidFill>
                  <a:srgbClr val="0C0C0C"/>
                </a:solidFill>
                <a:latin typeface="Lexend"/>
                <a:ea typeface="Lexend"/>
                <a:cs typeface="Lexend"/>
                <a:sym typeface="Lexend"/>
              </a:rPr>
              <a:t>v</a:t>
            </a:r>
            <a:r>
              <a:rPr b="1" lang="tr-TR" sz="5500">
                <a:solidFill>
                  <a:srgbClr val="0C0C0C"/>
                </a:solidFill>
                <a:latin typeface="Lexend"/>
                <a:ea typeface="Lexend"/>
                <a:cs typeface="Lexend"/>
                <a:sym typeface="Lexend"/>
              </a:rPr>
              <a:t>10.0</a:t>
            </a:r>
            <a:r>
              <a:rPr b="1" i="0" lang="tr-TR" sz="5500" u="none" cap="none" strike="noStrike">
                <a:solidFill>
                  <a:srgbClr val="0C0C0C"/>
                </a:solidFill>
                <a:latin typeface="Lexend"/>
                <a:ea typeface="Lexend"/>
                <a:cs typeface="Lexend"/>
                <a:sym typeface="Lexend"/>
              </a:rPr>
              <a:t> Highlights &amp; Community News</a:t>
            </a:r>
            <a:endParaRPr b="1" i="0" sz="5500" u="none" cap="none" strike="noStrike">
              <a:solidFill>
                <a:srgbClr val="0C0C0C"/>
              </a:solidFill>
              <a:latin typeface="Lexend"/>
              <a:ea typeface="Lexend"/>
              <a:cs typeface="Lexend"/>
              <a:sym typeface="Lexend"/>
            </a:endParaRPr>
          </a:p>
        </p:txBody>
      </p:sp>
      <p:sp>
        <p:nvSpPr>
          <p:cNvPr id="90" name="Google Shape;90;p1"/>
          <p:cNvSpPr txBox="1"/>
          <p:nvPr/>
        </p:nvSpPr>
        <p:spPr>
          <a:xfrm>
            <a:off x="2090161" y="4775609"/>
            <a:ext cx="6497100" cy="507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292D33"/>
              </a:buClr>
              <a:buSzPts val="2800"/>
              <a:buFont typeface="Poppins Medium"/>
              <a:buNone/>
            </a:pPr>
            <a:r>
              <a:rPr b="0" i="0" lang="tr-TR" sz="2800" u="none" cap="none" strike="noStrike">
                <a:solidFill>
                  <a:srgbClr val="292D33"/>
                </a:solidFill>
                <a:latin typeface="Poppins Medium"/>
                <a:ea typeface="Poppins Medium"/>
                <a:cs typeface="Poppins Medium"/>
                <a:sym typeface="Poppins Medium"/>
              </a:rPr>
              <a:t>Engincan VESKE</a:t>
            </a:r>
            <a:endParaRPr b="0" i="0" sz="2800" u="none" cap="none" strike="noStrike">
              <a:solidFill>
                <a:srgbClr val="292D33"/>
              </a:solidFill>
              <a:latin typeface="Poppins Medium"/>
              <a:ea typeface="Poppins Medium"/>
              <a:cs typeface="Poppins Medium"/>
              <a:sym typeface="Poppins Medium"/>
            </a:endParaRPr>
          </a:p>
        </p:txBody>
      </p:sp>
      <p:sp>
        <p:nvSpPr>
          <p:cNvPr id="91" name="Google Shape;91;p1"/>
          <p:cNvSpPr txBox="1"/>
          <p:nvPr/>
        </p:nvSpPr>
        <p:spPr>
          <a:xfrm>
            <a:off x="2090161" y="5295536"/>
            <a:ext cx="6497100" cy="400200"/>
          </a:xfrm>
          <a:prstGeom prst="rect">
            <a:avLst/>
          </a:prstGeom>
          <a:noFill/>
          <a:ln>
            <a:noFill/>
          </a:ln>
        </p:spPr>
        <p:txBody>
          <a:bodyPr anchorCtr="0" anchor="t" bIns="91425" lIns="91425" spcFirstLastPara="1" rIns="91425" wrap="square" tIns="91425">
            <a:normAutofit fontScale="92500" lnSpcReduction="20000"/>
          </a:bodyPr>
          <a:lstStyle/>
          <a:p>
            <a:pPr indent="0" lvl="0" marL="0" marR="0" rtl="0" algn="l">
              <a:lnSpc>
                <a:spcPct val="100000"/>
              </a:lnSpc>
              <a:spcBef>
                <a:spcPts val="0"/>
              </a:spcBef>
              <a:spcAft>
                <a:spcPts val="0"/>
              </a:spcAft>
              <a:buClr>
                <a:srgbClr val="4E5258"/>
              </a:buClr>
              <a:buSzPct val="100000"/>
              <a:buFont typeface="Poppins"/>
              <a:buNone/>
            </a:pPr>
            <a:r>
              <a:rPr b="0" i="0" lang="tr-TR" sz="1800" u="none" cap="none" strike="noStrike">
                <a:solidFill>
                  <a:srgbClr val="4E5258"/>
                </a:solidFill>
                <a:latin typeface="Poppins"/>
                <a:ea typeface="Poppins"/>
                <a:cs typeface="Poppins"/>
                <a:sym typeface="Poppins"/>
              </a:rPr>
              <a:t>Software Engineer at Volosoft</a:t>
            </a:r>
            <a:endParaRPr b="0" i="0" sz="1800" u="none" cap="none" strike="noStrike">
              <a:solidFill>
                <a:srgbClr val="545C67"/>
              </a:solidFill>
              <a:latin typeface="Poppins"/>
              <a:ea typeface="Poppins"/>
              <a:cs typeface="Poppins"/>
              <a:sym typeface="Poppins"/>
            </a:endParaRPr>
          </a:p>
        </p:txBody>
      </p:sp>
      <p:pic>
        <p:nvPicPr>
          <p:cNvPr id="92" name="Google Shape;92;p1"/>
          <p:cNvPicPr preferRelativeResize="0"/>
          <p:nvPr/>
        </p:nvPicPr>
        <p:blipFill rotWithShape="1">
          <a:blip r:embed="rId5">
            <a:alphaModFix/>
          </a:blip>
          <a:srcRect b="0" l="0" r="0" t="0"/>
          <a:stretch/>
        </p:blipFill>
        <p:spPr>
          <a:xfrm>
            <a:off x="5957716" y="4588179"/>
            <a:ext cx="318353" cy="318353"/>
          </a:xfrm>
          <a:prstGeom prst="rect">
            <a:avLst/>
          </a:prstGeom>
          <a:noFill/>
          <a:ln>
            <a:noFill/>
          </a:ln>
        </p:spPr>
      </p:pic>
      <p:pic>
        <p:nvPicPr>
          <p:cNvPr id="93" name="Google Shape;93;p1"/>
          <p:cNvPicPr preferRelativeResize="0"/>
          <p:nvPr/>
        </p:nvPicPr>
        <p:blipFill rotWithShape="1">
          <a:blip r:embed="rId6">
            <a:alphaModFix/>
          </a:blip>
          <a:srcRect b="0" l="0" r="0" t="0"/>
          <a:stretch/>
        </p:blipFill>
        <p:spPr>
          <a:xfrm>
            <a:off x="5957716" y="5058194"/>
            <a:ext cx="318352" cy="318352"/>
          </a:xfrm>
          <a:prstGeom prst="rect">
            <a:avLst/>
          </a:prstGeom>
          <a:noFill/>
          <a:ln>
            <a:noFill/>
          </a:ln>
        </p:spPr>
      </p:pic>
      <p:sp>
        <p:nvSpPr>
          <p:cNvPr id="94" name="Google Shape;94;p1"/>
          <p:cNvSpPr txBox="1"/>
          <p:nvPr/>
        </p:nvSpPr>
        <p:spPr>
          <a:xfrm>
            <a:off x="6364713" y="4531173"/>
            <a:ext cx="5238000" cy="369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292D33"/>
              </a:buClr>
              <a:buSzPts val="1500"/>
              <a:buFont typeface="Poppins"/>
              <a:buNone/>
            </a:pPr>
            <a:r>
              <a:rPr b="0" i="0" lang="tr-TR" sz="1500" u="none" cap="none" strike="noStrike">
                <a:solidFill>
                  <a:srgbClr val="4E5258"/>
                </a:solidFill>
                <a:uFill>
                  <a:noFill/>
                </a:uFill>
                <a:latin typeface="Poppins"/>
                <a:ea typeface="Poppins"/>
                <a:cs typeface="Poppins"/>
                <a:sym typeface="Poppins"/>
                <a:hlinkClick r:id="rId7">
                  <a:extLst>
                    <a:ext uri="{A12FA001-AC4F-418D-AE19-62706E023703}">
                      <ahyp:hlinkClr val="tx"/>
                    </a:ext>
                  </a:extLst>
                </a:hlinkClick>
              </a:rPr>
              <a:t>@EngincanVeske</a:t>
            </a:r>
            <a:endParaRPr b="0" i="0" sz="1500" u="none" cap="none" strike="noStrike">
              <a:solidFill>
                <a:srgbClr val="4E5258"/>
              </a:solidFill>
              <a:latin typeface="Poppins"/>
              <a:ea typeface="Poppins"/>
              <a:cs typeface="Poppins"/>
              <a:sym typeface="Poppins"/>
            </a:endParaRPr>
          </a:p>
        </p:txBody>
      </p:sp>
      <p:sp>
        <p:nvSpPr>
          <p:cNvPr id="95" name="Google Shape;95;p1"/>
          <p:cNvSpPr txBox="1"/>
          <p:nvPr/>
        </p:nvSpPr>
        <p:spPr>
          <a:xfrm>
            <a:off x="6364713" y="5045155"/>
            <a:ext cx="5238000" cy="369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292D33"/>
              </a:buClr>
              <a:buSzPts val="1500"/>
              <a:buFont typeface="Poppins"/>
              <a:buNone/>
            </a:pPr>
            <a:r>
              <a:rPr b="0" i="0" lang="tr-TR" sz="1500" u="none" cap="none" strike="noStrike">
                <a:solidFill>
                  <a:srgbClr val="4E5258"/>
                </a:solidFill>
                <a:uFill>
                  <a:noFill/>
                </a:uFill>
                <a:latin typeface="Poppins"/>
                <a:ea typeface="Poppins"/>
                <a:cs typeface="Poppins"/>
                <a:sym typeface="Poppins"/>
                <a:hlinkClick r:id="rId8">
                  <a:extLst>
                    <a:ext uri="{A12FA001-AC4F-418D-AE19-62706E023703}">
                      <ahyp:hlinkClr val="tx"/>
                    </a:ext>
                  </a:extLst>
                </a:hlinkClick>
              </a:rPr>
              <a:t>EngincanV</a:t>
            </a:r>
            <a:endParaRPr b="0" i="0" sz="1500" u="none" cap="none" strike="noStrike">
              <a:solidFill>
                <a:srgbClr val="4E5258"/>
              </a:solidFill>
              <a:latin typeface="Poppins"/>
              <a:ea typeface="Poppins"/>
              <a:cs typeface="Poppins"/>
              <a:sym typeface="Poppins"/>
            </a:endParaRPr>
          </a:p>
        </p:txBody>
      </p:sp>
      <p:pic>
        <p:nvPicPr>
          <p:cNvPr id="96" name="Google Shape;96;p1"/>
          <p:cNvPicPr preferRelativeResize="0"/>
          <p:nvPr/>
        </p:nvPicPr>
        <p:blipFill rotWithShape="1">
          <a:blip r:embed="rId9">
            <a:alphaModFix/>
          </a:blip>
          <a:srcRect b="0" l="0" r="0" t="0"/>
          <a:stretch/>
        </p:blipFill>
        <p:spPr>
          <a:xfrm>
            <a:off x="794761" y="4715171"/>
            <a:ext cx="1040400" cy="1029253"/>
          </a:xfrm>
          <a:prstGeom prst="rect">
            <a:avLst/>
          </a:prstGeom>
          <a:noFill/>
          <a:ln>
            <a:noFill/>
          </a:ln>
        </p:spPr>
      </p:pic>
      <p:sp>
        <p:nvSpPr>
          <p:cNvPr id="97" name="Google Shape;97;p1"/>
          <p:cNvSpPr/>
          <p:nvPr/>
        </p:nvSpPr>
        <p:spPr>
          <a:xfrm>
            <a:off x="5957750" y="5569175"/>
            <a:ext cx="318300" cy="318300"/>
          </a:xfrm>
          <a:prstGeom prst="flowChartConnector">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1"/>
          <p:cNvSpPr txBox="1"/>
          <p:nvPr/>
        </p:nvSpPr>
        <p:spPr>
          <a:xfrm>
            <a:off x="5906000" y="5528225"/>
            <a:ext cx="421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tr-TR"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99" name="Google Shape;99;p1"/>
          <p:cNvSpPr txBox="1"/>
          <p:nvPr/>
        </p:nvSpPr>
        <p:spPr>
          <a:xfrm>
            <a:off x="6364713" y="5543680"/>
            <a:ext cx="5238000" cy="369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292D33"/>
              </a:buClr>
              <a:buSzPts val="1500"/>
              <a:buFont typeface="Poppins"/>
              <a:buNone/>
            </a:pPr>
            <a:r>
              <a:rPr b="0" i="0" lang="tr-TR" sz="1500" u="none" cap="none" strike="noStrike">
                <a:solidFill>
                  <a:srgbClr val="4E5258"/>
                </a:solidFill>
                <a:uFill>
                  <a:noFill/>
                </a:uFill>
                <a:latin typeface="Poppins"/>
                <a:ea typeface="Poppins"/>
                <a:cs typeface="Poppins"/>
                <a:sym typeface="Poppins"/>
                <a:hlinkClick r:id="rId10">
                  <a:extLst>
                    <a:ext uri="{A12FA001-AC4F-418D-AE19-62706E023703}">
                      <ahyp:hlinkClr val="tx"/>
                    </a:ext>
                  </a:extLst>
                </a:hlinkClick>
              </a:rPr>
              <a:t>engincanveske.substack.com</a:t>
            </a:r>
            <a:endParaRPr b="0" i="0" sz="1500" u="none" cap="none" strike="noStrike">
              <a:solidFill>
                <a:srgbClr val="4E5258"/>
              </a:solidFill>
              <a:latin typeface="Poppins"/>
              <a:ea typeface="Poppins"/>
              <a:cs typeface="Poppins"/>
              <a:sym typeface="Poppins"/>
            </a:endParaRPr>
          </a:p>
        </p:txBody>
      </p:sp>
      <p:sp>
        <p:nvSpPr>
          <p:cNvPr id="100" name="Google Shape;100;p1"/>
          <p:cNvSpPr/>
          <p:nvPr/>
        </p:nvSpPr>
        <p:spPr>
          <a:xfrm>
            <a:off x="5957750" y="6080100"/>
            <a:ext cx="318300" cy="29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01" name="Google Shape;101;p1" title="yt.png"/>
          <p:cNvPicPr preferRelativeResize="0"/>
          <p:nvPr/>
        </p:nvPicPr>
        <p:blipFill rotWithShape="1">
          <a:blip r:embed="rId11">
            <a:alphaModFix/>
          </a:blip>
          <a:srcRect b="0" l="0" r="0" t="0"/>
          <a:stretch/>
        </p:blipFill>
        <p:spPr>
          <a:xfrm>
            <a:off x="5996588" y="6109188"/>
            <a:ext cx="240625" cy="240625"/>
          </a:xfrm>
          <a:prstGeom prst="rect">
            <a:avLst/>
          </a:prstGeom>
          <a:noFill/>
          <a:ln>
            <a:noFill/>
          </a:ln>
        </p:spPr>
      </p:pic>
      <p:sp>
        <p:nvSpPr>
          <p:cNvPr id="102" name="Google Shape;102;p1"/>
          <p:cNvSpPr txBox="1"/>
          <p:nvPr/>
        </p:nvSpPr>
        <p:spPr>
          <a:xfrm>
            <a:off x="6364713" y="6042205"/>
            <a:ext cx="5238000" cy="369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292D33"/>
              </a:buClr>
              <a:buSzPts val="1500"/>
              <a:buFont typeface="Poppins"/>
              <a:buNone/>
            </a:pPr>
            <a:r>
              <a:rPr b="0" i="0" lang="tr-TR" sz="1500" u="sng" cap="none" strike="noStrike">
                <a:solidFill>
                  <a:schemeClr val="hlink"/>
                </a:solidFill>
                <a:latin typeface="Poppins"/>
                <a:ea typeface="Poppins"/>
                <a:cs typeface="Poppins"/>
                <a:sym typeface="Poppins"/>
                <a:hlinkClick r:id="rId12"/>
              </a:rPr>
              <a:t>@engincanv</a:t>
            </a:r>
            <a:endParaRPr b="0" i="0" sz="1500" u="none" cap="none" strike="noStrike">
              <a:solidFill>
                <a:srgbClr val="4E5258"/>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6" name="Shape 106"/>
        <p:cNvGrpSpPr/>
        <p:nvPr/>
      </p:nvGrpSpPr>
      <p:grpSpPr>
        <a:xfrm>
          <a:off x="0" y="0"/>
          <a:ext cx="0" cy="0"/>
          <a:chOff x="0" y="0"/>
          <a:chExt cx="0" cy="0"/>
        </a:xfrm>
      </p:grpSpPr>
      <p:sp>
        <p:nvSpPr>
          <p:cNvPr id="107" name="Google Shape;107;p2"/>
          <p:cNvSpPr txBox="1"/>
          <p:nvPr/>
        </p:nvSpPr>
        <p:spPr>
          <a:xfrm>
            <a:off x="714375" y="619125"/>
            <a:ext cx="9548700" cy="6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tr-TR" sz="3400" u="none" cap="none" strike="noStrike">
                <a:solidFill>
                  <a:srgbClr val="292D33"/>
                </a:solidFill>
                <a:latin typeface="Lexend"/>
                <a:ea typeface="Lexend"/>
                <a:cs typeface="Lexend"/>
                <a:sym typeface="Lexend"/>
              </a:rPr>
              <a:t>ABP </a:t>
            </a:r>
            <a:r>
              <a:rPr b="1" lang="tr-TR" sz="3400">
                <a:solidFill>
                  <a:srgbClr val="292D33"/>
                </a:solidFill>
                <a:latin typeface="Lexend"/>
                <a:ea typeface="Lexend"/>
                <a:cs typeface="Lexend"/>
                <a:sym typeface="Lexend"/>
              </a:rPr>
              <a:t>10.0</a:t>
            </a:r>
            <a:r>
              <a:rPr b="1" i="0" lang="tr-TR" sz="3400" u="none" cap="none" strike="noStrike">
                <a:solidFill>
                  <a:srgbClr val="292D33"/>
                </a:solidFill>
                <a:latin typeface="Lexend"/>
                <a:ea typeface="Lexend"/>
                <a:cs typeface="Lexend"/>
                <a:sym typeface="Lexend"/>
              </a:rPr>
              <a:t> Highlights</a:t>
            </a:r>
            <a:endParaRPr b="1" i="0" sz="3400" u="none" cap="none" strike="noStrike">
              <a:solidFill>
                <a:srgbClr val="292D33"/>
              </a:solidFill>
              <a:latin typeface="Lexend"/>
              <a:ea typeface="Lexend"/>
              <a:cs typeface="Lexend"/>
              <a:sym typeface="Lexend"/>
            </a:endParaRPr>
          </a:p>
        </p:txBody>
      </p:sp>
      <p:sp>
        <p:nvSpPr>
          <p:cNvPr id="108" name="Google Shape;108;p2"/>
          <p:cNvSpPr txBox="1"/>
          <p:nvPr/>
        </p:nvSpPr>
        <p:spPr>
          <a:xfrm>
            <a:off x="714375" y="1535700"/>
            <a:ext cx="8056200" cy="3809700"/>
          </a:xfrm>
          <a:prstGeom prst="rect">
            <a:avLst/>
          </a:prstGeom>
          <a:noFill/>
          <a:ln>
            <a:noFill/>
          </a:ln>
        </p:spPr>
        <p:txBody>
          <a:bodyPr anchorCtr="0" anchor="t" bIns="45700" lIns="91425" spcFirstLastPara="1" rIns="91425" wrap="square" tIns="45700">
            <a:spAutoFit/>
          </a:bodyPr>
          <a:lstStyle/>
          <a:p>
            <a:pPr indent="-361950" lvl="0" marL="457200" marR="0" rtl="0" algn="l">
              <a:lnSpc>
                <a:spcPct val="175000"/>
              </a:lnSpc>
              <a:spcBef>
                <a:spcPts val="0"/>
              </a:spcBef>
              <a:spcAft>
                <a:spcPts val="0"/>
              </a:spcAft>
              <a:buClr>
                <a:srgbClr val="5B636F"/>
              </a:buClr>
              <a:buSzPts val="2100"/>
              <a:buFont typeface="Poppins"/>
              <a:buChar char="●"/>
            </a:pPr>
            <a:r>
              <a:rPr lang="tr-TR" sz="2100">
                <a:solidFill>
                  <a:srgbClr val="5B636F"/>
                </a:solidFill>
                <a:latin typeface="Poppins"/>
                <a:ea typeface="Poppins"/>
                <a:cs typeface="Poppins"/>
                <a:sym typeface="Poppins"/>
              </a:rPr>
              <a:t>Upgraded to .NET 10.0</a:t>
            </a:r>
            <a:endParaRPr sz="2100">
              <a:solidFill>
                <a:srgbClr val="5B636F"/>
              </a:solidFill>
              <a:latin typeface="Poppins"/>
              <a:ea typeface="Poppins"/>
              <a:cs typeface="Poppins"/>
              <a:sym typeface="Poppins"/>
            </a:endParaRPr>
          </a:p>
          <a:p>
            <a:pPr indent="-361950" lvl="0" marL="457200" marR="0" rtl="0" algn="l">
              <a:lnSpc>
                <a:spcPct val="175000"/>
              </a:lnSpc>
              <a:spcBef>
                <a:spcPts val="0"/>
              </a:spcBef>
              <a:spcAft>
                <a:spcPts val="0"/>
              </a:spcAft>
              <a:buClr>
                <a:srgbClr val="5B636F"/>
              </a:buClr>
              <a:buSzPts val="2100"/>
              <a:buFont typeface="Poppins"/>
              <a:buChar char="●"/>
            </a:pPr>
            <a:r>
              <a:rPr lang="tr-TR" sz="2100">
                <a:solidFill>
                  <a:srgbClr val="5B636F"/>
                </a:solidFill>
                <a:latin typeface="Poppins"/>
                <a:ea typeface="Poppins"/>
                <a:cs typeface="Poppins"/>
                <a:sym typeface="Poppins"/>
              </a:rPr>
              <a:t>Upgraded to </a:t>
            </a:r>
            <a:r>
              <a:rPr lang="tr-TR" sz="2100">
                <a:solidFill>
                  <a:srgbClr val="E83090"/>
                </a:solidFill>
                <a:latin typeface="Poppins"/>
                <a:ea typeface="Poppins"/>
                <a:cs typeface="Poppins"/>
                <a:sym typeface="Poppins"/>
              </a:rPr>
              <a:t>Blazorise</a:t>
            </a:r>
            <a:r>
              <a:rPr lang="tr-TR" sz="2100">
                <a:solidFill>
                  <a:srgbClr val="5B636F"/>
                </a:solidFill>
                <a:latin typeface="Poppins"/>
                <a:ea typeface="Poppins"/>
                <a:cs typeface="Poppins"/>
                <a:sym typeface="Poppins"/>
              </a:rPr>
              <a:t> v1.8.2</a:t>
            </a:r>
            <a:endParaRPr sz="2100">
              <a:solidFill>
                <a:srgbClr val="5B636F"/>
              </a:solidFill>
              <a:latin typeface="Poppins"/>
              <a:ea typeface="Poppins"/>
              <a:cs typeface="Poppins"/>
              <a:sym typeface="Poppins"/>
            </a:endParaRPr>
          </a:p>
          <a:p>
            <a:pPr indent="-361950" lvl="0" marL="457200" marR="0" rtl="0" algn="l">
              <a:lnSpc>
                <a:spcPct val="175000"/>
              </a:lnSpc>
              <a:spcBef>
                <a:spcPts val="0"/>
              </a:spcBef>
              <a:spcAft>
                <a:spcPts val="0"/>
              </a:spcAft>
              <a:buClr>
                <a:srgbClr val="5B636F"/>
              </a:buClr>
              <a:buSzPts val="2100"/>
              <a:buFont typeface="Poppins"/>
              <a:buChar char="●"/>
            </a:pPr>
            <a:r>
              <a:rPr lang="tr-TR" sz="2100">
                <a:solidFill>
                  <a:srgbClr val="5B636F"/>
                </a:solidFill>
                <a:latin typeface="Poppins"/>
                <a:ea typeface="Poppins"/>
                <a:cs typeface="Poppins"/>
                <a:sym typeface="Poppins"/>
              </a:rPr>
              <a:t>Elsa Workflow Module (PRO)</a:t>
            </a:r>
            <a:endParaRPr sz="2100">
              <a:solidFill>
                <a:srgbClr val="5B636F"/>
              </a:solidFill>
              <a:latin typeface="Poppins"/>
              <a:ea typeface="Poppins"/>
              <a:cs typeface="Poppins"/>
              <a:sym typeface="Poppins"/>
            </a:endParaRPr>
          </a:p>
          <a:p>
            <a:pPr indent="-361950" lvl="0" marL="457200" marR="0" rtl="0" algn="l">
              <a:lnSpc>
                <a:spcPct val="175000"/>
              </a:lnSpc>
              <a:spcBef>
                <a:spcPts val="0"/>
              </a:spcBef>
              <a:spcAft>
                <a:spcPts val="0"/>
              </a:spcAft>
              <a:buClr>
                <a:srgbClr val="5B636F"/>
              </a:buClr>
              <a:buSzPts val="2100"/>
              <a:buFont typeface="Poppins"/>
              <a:buChar char="●"/>
            </a:pPr>
            <a:r>
              <a:rPr lang="tr-TR" sz="2100">
                <a:solidFill>
                  <a:srgbClr val="5B636F"/>
                </a:solidFill>
                <a:latin typeface="Poppins"/>
                <a:ea typeface="Poppins"/>
                <a:cs typeface="Poppins"/>
                <a:sym typeface="Poppins"/>
              </a:rPr>
              <a:t>New Object Mapper: </a:t>
            </a:r>
            <a:r>
              <a:rPr lang="tr-TR" sz="2100">
                <a:solidFill>
                  <a:srgbClr val="E83090"/>
                </a:solidFill>
                <a:latin typeface="Poppins"/>
                <a:ea typeface="Poppins"/>
                <a:cs typeface="Poppins"/>
                <a:sym typeface="Poppins"/>
              </a:rPr>
              <a:t>Mapperly</a:t>
            </a:r>
            <a:endParaRPr sz="2100">
              <a:solidFill>
                <a:srgbClr val="5B636F"/>
              </a:solidFill>
              <a:latin typeface="Poppins"/>
              <a:ea typeface="Poppins"/>
              <a:cs typeface="Poppins"/>
              <a:sym typeface="Poppins"/>
            </a:endParaRPr>
          </a:p>
          <a:p>
            <a:pPr indent="-361950" lvl="0" marL="457200" rtl="0" algn="l">
              <a:lnSpc>
                <a:spcPct val="175000"/>
              </a:lnSpc>
              <a:spcBef>
                <a:spcPts val="0"/>
              </a:spcBef>
              <a:spcAft>
                <a:spcPts val="0"/>
              </a:spcAft>
              <a:buClr>
                <a:srgbClr val="5B636F"/>
              </a:buClr>
              <a:buSzPts val="2100"/>
              <a:buFont typeface="Poppins"/>
              <a:buChar char="●"/>
            </a:pPr>
            <a:r>
              <a:rPr lang="tr-TR" sz="2100">
                <a:solidFill>
                  <a:srgbClr val="5B636F"/>
                </a:solidFill>
                <a:latin typeface="Poppins"/>
                <a:ea typeface="Poppins"/>
                <a:cs typeface="Poppins"/>
                <a:sym typeface="Poppins"/>
              </a:rPr>
              <a:t>Localization: Nested Object Support in JSON Files</a:t>
            </a:r>
            <a:endParaRPr sz="2100">
              <a:solidFill>
                <a:srgbClr val="5B636F"/>
              </a:solidFill>
              <a:latin typeface="Poppins"/>
              <a:ea typeface="Poppins"/>
              <a:cs typeface="Poppins"/>
              <a:sym typeface="Poppins"/>
            </a:endParaRPr>
          </a:p>
          <a:p>
            <a:pPr indent="-361950" lvl="0" marL="457200" rtl="0" algn="l">
              <a:lnSpc>
                <a:spcPct val="175000"/>
              </a:lnSpc>
              <a:spcBef>
                <a:spcPts val="0"/>
              </a:spcBef>
              <a:spcAft>
                <a:spcPts val="0"/>
              </a:spcAft>
              <a:buClr>
                <a:srgbClr val="5B636F"/>
              </a:buClr>
              <a:buSzPts val="2100"/>
              <a:buFont typeface="Poppins"/>
              <a:buChar char="●"/>
            </a:pPr>
            <a:r>
              <a:rPr lang="tr-TR" sz="2100">
                <a:solidFill>
                  <a:srgbClr val="5B636F"/>
                </a:solidFill>
                <a:latin typeface="Poppins"/>
                <a:ea typeface="Poppins"/>
                <a:cs typeface="Poppins"/>
                <a:sym typeface="Poppins"/>
              </a:rPr>
              <a:t>EF Core Shared Entity Types on Repositories</a:t>
            </a:r>
            <a:endParaRPr sz="2100">
              <a:solidFill>
                <a:srgbClr val="5B636F"/>
              </a:solidFill>
              <a:latin typeface="Poppins"/>
              <a:ea typeface="Poppins"/>
              <a:cs typeface="Poppins"/>
              <a:sym typeface="Poppins"/>
            </a:endParaRPr>
          </a:p>
          <a:p>
            <a:pPr indent="-361950" lvl="0" marL="457200" rtl="0" algn="l">
              <a:lnSpc>
                <a:spcPct val="175000"/>
              </a:lnSpc>
              <a:spcBef>
                <a:spcPts val="0"/>
              </a:spcBef>
              <a:spcAft>
                <a:spcPts val="0"/>
              </a:spcAft>
              <a:buClr>
                <a:srgbClr val="5B636F"/>
              </a:buClr>
              <a:buSzPts val="2100"/>
              <a:buFont typeface="Poppins"/>
              <a:buChar char="●"/>
            </a:pPr>
            <a:r>
              <a:rPr lang="tr-TR" sz="2100">
                <a:solidFill>
                  <a:srgbClr val="5B636F"/>
                </a:solidFill>
                <a:latin typeface="Poppins"/>
                <a:ea typeface="Poppins"/>
                <a:cs typeface="Poppins"/>
                <a:sym typeface="Poppins"/>
              </a:rPr>
              <a:t>Angular SSR Support</a:t>
            </a:r>
            <a:endParaRPr sz="2100">
              <a:solidFill>
                <a:srgbClr val="5B636F"/>
              </a:solidFill>
              <a:latin typeface="Poppins"/>
              <a:ea typeface="Poppins"/>
              <a:cs typeface="Poppins"/>
              <a:sym typeface="Poppins"/>
            </a:endParaRPr>
          </a:p>
        </p:txBody>
      </p:sp>
      <p:pic>
        <p:nvPicPr>
          <p:cNvPr id="109" name="Google Shape;109;p2"/>
          <p:cNvPicPr preferRelativeResize="0"/>
          <p:nvPr/>
        </p:nvPicPr>
        <p:blipFill rotWithShape="1">
          <a:blip r:embed="rId4">
            <a:alphaModFix/>
          </a:blip>
          <a:srcRect b="0" l="0" r="0" t="0"/>
          <a:stretch/>
        </p:blipFill>
        <p:spPr>
          <a:xfrm>
            <a:off x="8770695" y="3468458"/>
            <a:ext cx="2957703" cy="2957703"/>
          </a:xfrm>
          <a:prstGeom prst="rect">
            <a:avLst/>
          </a:prstGeom>
          <a:noFill/>
          <a:ln>
            <a:noFill/>
          </a:ln>
        </p:spPr>
      </p:pic>
      <p:sp>
        <p:nvSpPr>
          <p:cNvPr id="110" name="Google Shape;110;p2"/>
          <p:cNvSpPr txBox="1"/>
          <p:nvPr/>
        </p:nvSpPr>
        <p:spPr>
          <a:xfrm>
            <a:off x="9080150" y="3017025"/>
            <a:ext cx="2338800" cy="3540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700"/>
              <a:buFont typeface="Arial"/>
              <a:buNone/>
            </a:pPr>
            <a:r>
              <a:rPr b="0" i="0" lang="tr-TR" sz="1700" u="none" cap="none" strike="noStrike">
                <a:solidFill>
                  <a:srgbClr val="5B636F"/>
                </a:solidFill>
                <a:latin typeface="Poppins"/>
                <a:ea typeface="Poppins"/>
                <a:cs typeface="Poppins"/>
                <a:sym typeface="Poppins"/>
              </a:rPr>
              <a:t>Read the blog post</a:t>
            </a:r>
            <a:endParaRPr b="0" i="0" sz="2000" u="none" cap="none" strike="noStrike">
              <a:solidFill>
                <a:srgbClr val="5B636F"/>
              </a:solidFill>
              <a:latin typeface="Poppins"/>
              <a:ea typeface="Poppins"/>
              <a:cs typeface="Poppins"/>
              <a:sym typeface="Poppins"/>
            </a:endParaRPr>
          </a:p>
        </p:txBody>
      </p:sp>
      <p:pic>
        <p:nvPicPr>
          <p:cNvPr id="111" name="Google Shape;111;p2" title="Untitled design.png"/>
          <p:cNvPicPr preferRelativeResize="0"/>
          <p:nvPr/>
        </p:nvPicPr>
        <p:blipFill>
          <a:blip r:embed="rId5">
            <a:alphaModFix/>
          </a:blip>
          <a:stretch>
            <a:fillRect/>
          </a:stretch>
        </p:blipFill>
        <p:spPr>
          <a:xfrm>
            <a:off x="8910500" y="3608250"/>
            <a:ext cx="2678100" cy="2678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5" name="Shape 115"/>
        <p:cNvGrpSpPr/>
        <p:nvPr/>
      </p:nvGrpSpPr>
      <p:grpSpPr>
        <a:xfrm>
          <a:off x="0" y="0"/>
          <a:ext cx="0" cy="0"/>
          <a:chOff x="0" y="0"/>
          <a:chExt cx="0" cy="0"/>
        </a:xfrm>
      </p:grpSpPr>
      <p:sp>
        <p:nvSpPr>
          <p:cNvPr id="116" name="Google Shape;116;g3494f8583c9_0_8"/>
          <p:cNvSpPr txBox="1"/>
          <p:nvPr/>
        </p:nvSpPr>
        <p:spPr>
          <a:xfrm>
            <a:off x="714375" y="821839"/>
            <a:ext cx="10771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lang="tr-TR" sz="2800">
                <a:solidFill>
                  <a:srgbClr val="292D33"/>
                </a:solidFill>
                <a:latin typeface="Lexend"/>
                <a:ea typeface="Lexend"/>
                <a:cs typeface="Lexend"/>
                <a:sym typeface="Lexend"/>
              </a:rPr>
              <a:t>Upgraded to .NET 10.0</a:t>
            </a:r>
            <a:endParaRPr b="1" i="0" sz="2800" u="none" cap="none" strike="noStrike">
              <a:solidFill>
                <a:srgbClr val="E83090"/>
              </a:solidFill>
              <a:latin typeface="Lexend"/>
              <a:ea typeface="Lexend"/>
              <a:cs typeface="Lexend"/>
              <a:sym typeface="Lexend"/>
            </a:endParaRPr>
          </a:p>
        </p:txBody>
      </p:sp>
      <p:pic>
        <p:nvPicPr>
          <p:cNvPr id="117" name="Google Shape;117;g3494f8583c9_0_8"/>
          <p:cNvPicPr preferRelativeResize="0"/>
          <p:nvPr/>
        </p:nvPicPr>
        <p:blipFill>
          <a:blip r:embed="rId4">
            <a:alphaModFix/>
          </a:blip>
          <a:stretch>
            <a:fillRect/>
          </a:stretch>
        </p:blipFill>
        <p:spPr>
          <a:xfrm>
            <a:off x="841475" y="1669713"/>
            <a:ext cx="10689350" cy="36165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1" name="Shape 121"/>
        <p:cNvGrpSpPr/>
        <p:nvPr/>
      </p:nvGrpSpPr>
      <p:grpSpPr>
        <a:xfrm>
          <a:off x="0" y="0"/>
          <a:ext cx="0" cy="0"/>
          <a:chOff x="0" y="0"/>
          <a:chExt cx="0" cy="0"/>
        </a:xfrm>
      </p:grpSpPr>
      <p:pic>
        <p:nvPicPr>
          <p:cNvPr id="122" name="Google Shape;122;g3a2f9e079f2_0_2"/>
          <p:cNvPicPr preferRelativeResize="0"/>
          <p:nvPr/>
        </p:nvPicPr>
        <p:blipFill>
          <a:blip r:embed="rId4">
            <a:alphaModFix/>
          </a:blip>
          <a:stretch>
            <a:fillRect/>
          </a:stretch>
        </p:blipFill>
        <p:spPr>
          <a:xfrm>
            <a:off x="714375" y="980639"/>
            <a:ext cx="3257550" cy="1704975"/>
          </a:xfrm>
          <a:prstGeom prst="rect">
            <a:avLst/>
          </a:prstGeom>
          <a:noFill/>
          <a:ln>
            <a:noFill/>
          </a:ln>
        </p:spPr>
      </p:pic>
      <p:pic>
        <p:nvPicPr>
          <p:cNvPr id="123" name="Google Shape;123;g3a2f9e079f2_0_2"/>
          <p:cNvPicPr preferRelativeResize="0"/>
          <p:nvPr/>
        </p:nvPicPr>
        <p:blipFill>
          <a:blip r:embed="rId5">
            <a:alphaModFix/>
          </a:blip>
          <a:stretch>
            <a:fillRect/>
          </a:stretch>
        </p:blipFill>
        <p:spPr>
          <a:xfrm>
            <a:off x="4838025" y="980639"/>
            <a:ext cx="5400675" cy="2209800"/>
          </a:xfrm>
          <a:prstGeom prst="rect">
            <a:avLst/>
          </a:prstGeom>
          <a:noFill/>
          <a:ln>
            <a:noFill/>
          </a:ln>
        </p:spPr>
      </p:pic>
      <p:pic>
        <p:nvPicPr>
          <p:cNvPr id="124" name="Google Shape;124;g3a2f9e079f2_0_2"/>
          <p:cNvPicPr preferRelativeResize="0"/>
          <p:nvPr/>
        </p:nvPicPr>
        <p:blipFill>
          <a:blip r:embed="rId6">
            <a:alphaModFix/>
          </a:blip>
          <a:stretch>
            <a:fillRect/>
          </a:stretch>
        </p:blipFill>
        <p:spPr>
          <a:xfrm>
            <a:off x="714375" y="3941700"/>
            <a:ext cx="9352775" cy="2459025"/>
          </a:xfrm>
          <a:prstGeom prst="rect">
            <a:avLst/>
          </a:prstGeom>
          <a:noFill/>
          <a:ln>
            <a:noFill/>
          </a:ln>
        </p:spPr>
      </p:pic>
      <p:sp>
        <p:nvSpPr>
          <p:cNvPr id="125" name="Google Shape;125;g3a2f9e079f2_0_2"/>
          <p:cNvSpPr txBox="1"/>
          <p:nvPr/>
        </p:nvSpPr>
        <p:spPr>
          <a:xfrm>
            <a:off x="714375" y="451150"/>
            <a:ext cx="32004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tr-TR">
                <a:solidFill>
                  <a:srgbClr val="5B636F"/>
                </a:solidFill>
                <a:latin typeface="Poppins"/>
                <a:ea typeface="Poppins"/>
                <a:cs typeface="Poppins"/>
                <a:sym typeface="Poppins"/>
              </a:rPr>
              <a:t>1-) Update global.json files:</a:t>
            </a:r>
            <a:endParaRPr b="0" i="0" sz="1700" u="none" cap="none" strike="noStrike">
              <a:solidFill>
                <a:srgbClr val="5B636F"/>
              </a:solidFill>
              <a:latin typeface="Poppins"/>
              <a:ea typeface="Poppins"/>
              <a:cs typeface="Poppins"/>
              <a:sym typeface="Poppins"/>
            </a:endParaRPr>
          </a:p>
        </p:txBody>
      </p:sp>
      <p:sp>
        <p:nvSpPr>
          <p:cNvPr id="126" name="Google Shape;126;g3a2f9e079f2_0_2"/>
          <p:cNvSpPr txBox="1"/>
          <p:nvPr/>
        </p:nvSpPr>
        <p:spPr>
          <a:xfrm>
            <a:off x="4838025" y="451150"/>
            <a:ext cx="32004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tr-TR">
                <a:solidFill>
                  <a:srgbClr val="5B636F"/>
                </a:solidFill>
                <a:latin typeface="Poppins"/>
                <a:ea typeface="Poppins"/>
                <a:cs typeface="Poppins"/>
                <a:sym typeface="Poppins"/>
              </a:rPr>
              <a:t>2</a:t>
            </a:r>
            <a:r>
              <a:rPr lang="tr-TR">
                <a:solidFill>
                  <a:srgbClr val="5B636F"/>
                </a:solidFill>
                <a:latin typeface="Poppins"/>
                <a:ea typeface="Poppins"/>
                <a:cs typeface="Poppins"/>
                <a:sym typeface="Poppins"/>
              </a:rPr>
              <a:t>-) Update the target framework:</a:t>
            </a:r>
            <a:endParaRPr b="0" i="0" sz="1700" u="none" cap="none" strike="noStrike">
              <a:solidFill>
                <a:srgbClr val="5B636F"/>
              </a:solidFill>
              <a:latin typeface="Poppins"/>
              <a:ea typeface="Poppins"/>
              <a:cs typeface="Poppins"/>
              <a:sym typeface="Poppins"/>
            </a:endParaRPr>
          </a:p>
        </p:txBody>
      </p:sp>
      <p:sp>
        <p:nvSpPr>
          <p:cNvPr id="127" name="Google Shape;127;g3a2f9e079f2_0_2"/>
          <p:cNvSpPr txBox="1"/>
          <p:nvPr/>
        </p:nvSpPr>
        <p:spPr>
          <a:xfrm>
            <a:off x="742950" y="3499325"/>
            <a:ext cx="32004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tr-TR">
                <a:solidFill>
                  <a:srgbClr val="5B636F"/>
                </a:solidFill>
                <a:latin typeface="Poppins"/>
                <a:ea typeface="Poppins"/>
                <a:cs typeface="Poppins"/>
                <a:sym typeface="Poppins"/>
              </a:rPr>
              <a:t>3</a:t>
            </a:r>
            <a:r>
              <a:rPr lang="tr-TR">
                <a:solidFill>
                  <a:srgbClr val="5B636F"/>
                </a:solidFill>
                <a:latin typeface="Poppins"/>
                <a:ea typeface="Poppins"/>
                <a:cs typeface="Poppins"/>
                <a:sym typeface="Poppins"/>
              </a:rPr>
              <a:t>-) Update package references:</a:t>
            </a:r>
            <a:endParaRPr b="0" i="0" sz="1700" u="none" cap="none" strike="noStrike">
              <a:solidFill>
                <a:srgbClr val="5B636F"/>
              </a:solidFill>
              <a:latin typeface="Poppins"/>
              <a:ea typeface="Poppins"/>
              <a:cs typeface="Poppins"/>
              <a:sym typeface="Poppi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1" name="Shape 131"/>
        <p:cNvGrpSpPr/>
        <p:nvPr/>
      </p:nvGrpSpPr>
      <p:grpSpPr>
        <a:xfrm>
          <a:off x="0" y="0"/>
          <a:ext cx="0" cy="0"/>
          <a:chOff x="0" y="0"/>
          <a:chExt cx="0" cy="0"/>
        </a:xfrm>
      </p:grpSpPr>
      <p:sp>
        <p:nvSpPr>
          <p:cNvPr id="132" name="Google Shape;132;g3a2f9e079f2_0_13"/>
          <p:cNvSpPr txBox="1"/>
          <p:nvPr/>
        </p:nvSpPr>
        <p:spPr>
          <a:xfrm>
            <a:off x="709500" y="669200"/>
            <a:ext cx="107730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tr-TR">
                <a:solidFill>
                  <a:srgbClr val="5B636F"/>
                </a:solidFill>
                <a:latin typeface="Poppins"/>
                <a:ea typeface="Poppins"/>
                <a:cs typeface="Poppins"/>
                <a:sym typeface="Poppins"/>
              </a:rPr>
              <a:t>4</a:t>
            </a:r>
            <a:r>
              <a:rPr lang="tr-TR">
                <a:solidFill>
                  <a:srgbClr val="5B636F"/>
                </a:solidFill>
                <a:latin typeface="Poppins"/>
                <a:ea typeface="Poppins"/>
                <a:cs typeface="Poppins"/>
                <a:sym typeface="Poppins"/>
              </a:rPr>
              <a:t>-) Check release notes &amp; migration guides (and apply the required changes):</a:t>
            </a:r>
            <a:endParaRPr>
              <a:solidFill>
                <a:srgbClr val="5B636F"/>
              </a:solidFill>
              <a:latin typeface="Poppins"/>
              <a:ea typeface="Poppins"/>
              <a:cs typeface="Poppins"/>
              <a:sym typeface="Poppins"/>
            </a:endParaRPr>
          </a:p>
          <a:p>
            <a:pPr indent="-317500" lvl="0" marL="457200" marR="0" rtl="0" algn="l">
              <a:lnSpc>
                <a:spcPct val="150000"/>
              </a:lnSpc>
              <a:spcBef>
                <a:spcPts val="0"/>
              </a:spcBef>
              <a:spcAft>
                <a:spcPts val="0"/>
              </a:spcAft>
              <a:buClr>
                <a:srgbClr val="4E5258"/>
              </a:buClr>
              <a:buSzPts val="1400"/>
              <a:buFont typeface="Poppins"/>
              <a:buChar char="●"/>
            </a:pPr>
            <a:r>
              <a:rPr lang="tr-TR" u="sng">
                <a:solidFill>
                  <a:schemeClr val="hlink"/>
                </a:solidFill>
                <a:latin typeface="Poppins"/>
                <a:ea typeface="Poppins"/>
                <a:cs typeface="Poppins"/>
                <a:sym typeface="Poppins"/>
                <a:hlinkClick r:id="rId4"/>
              </a:rPr>
              <a:t>Migrate from ASP.NET Core in .NET 9 to ASP.NET Core in .NET 10 Guide</a:t>
            </a:r>
            <a:endParaRPr sz="1700">
              <a:solidFill>
                <a:srgbClr val="5B636F"/>
              </a:solidFill>
              <a:latin typeface="Poppins"/>
              <a:ea typeface="Poppins"/>
              <a:cs typeface="Poppins"/>
              <a:sym typeface="Poppins"/>
            </a:endParaRPr>
          </a:p>
          <a:p>
            <a:pPr indent="-317500" lvl="0" marL="457200" marR="0" rtl="0" algn="l">
              <a:lnSpc>
                <a:spcPct val="150000"/>
              </a:lnSpc>
              <a:spcBef>
                <a:spcPts val="0"/>
              </a:spcBef>
              <a:spcAft>
                <a:spcPts val="0"/>
              </a:spcAft>
              <a:buClr>
                <a:srgbClr val="4E5258"/>
              </a:buClr>
              <a:buSzPts val="1400"/>
              <a:buFont typeface="Poppins"/>
              <a:buChar char="●"/>
            </a:pPr>
            <a:r>
              <a:rPr lang="tr-TR" u="sng">
                <a:solidFill>
                  <a:schemeClr val="hlink"/>
                </a:solidFill>
                <a:latin typeface="Poppins"/>
                <a:ea typeface="Poppins"/>
                <a:cs typeface="Poppins"/>
                <a:sym typeface="Poppins"/>
                <a:hlinkClick r:id="rId5"/>
              </a:rPr>
              <a:t>Breaking Changes in .NET 10 Documentation</a:t>
            </a:r>
            <a:endParaRPr>
              <a:solidFill>
                <a:srgbClr val="5B636F"/>
              </a:solidFill>
              <a:latin typeface="Poppins"/>
              <a:ea typeface="Poppins"/>
              <a:cs typeface="Poppins"/>
              <a:sym typeface="Poppins"/>
            </a:endParaRPr>
          </a:p>
        </p:txBody>
      </p:sp>
      <p:sp>
        <p:nvSpPr>
          <p:cNvPr id="133" name="Google Shape;133;g3a2f9e079f2_0_13"/>
          <p:cNvSpPr txBox="1"/>
          <p:nvPr/>
        </p:nvSpPr>
        <p:spPr>
          <a:xfrm>
            <a:off x="714375" y="1929550"/>
            <a:ext cx="105027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tr-TR">
                <a:solidFill>
                  <a:srgbClr val="5B636F"/>
                </a:solidFill>
                <a:latin typeface="Poppins"/>
                <a:ea typeface="Poppins"/>
                <a:cs typeface="Poppins"/>
                <a:sym typeface="Poppins"/>
              </a:rPr>
              <a:t>5</a:t>
            </a:r>
            <a:r>
              <a:rPr lang="tr-TR">
                <a:solidFill>
                  <a:srgbClr val="5B636F"/>
                </a:solidFill>
                <a:latin typeface="Poppins"/>
                <a:ea typeface="Poppins"/>
                <a:cs typeface="Poppins"/>
                <a:sym typeface="Poppins"/>
              </a:rPr>
              <a:t>-) Use </a:t>
            </a:r>
            <a:r>
              <a:rPr lang="tr-TR">
                <a:solidFill>
                  <a:srgbClr val="5B636F"/>
                </a:solidFill>
                <a:latin typeface="Poppins"/>
                <a:ea typeface="Poppins"/>
                <a:cs typeface="Poppins"/>
                <a:sym typeface="Poppins"/>
              </a:rPr>
              <a:t>ABP Studio (or ABP CLI)</a:t>
            </a:r>
            <a:r>
              <a:rPr lang="tr-TR">
                <a:solidFill>
                  <a:srgbClr val="5B636F"/>
                </a:solidFill>
                <a:latin typeface="Poppins"/>
                <a:ea typeface="Poppins"/>
                <a:cs typeface="Poppins"/>
                <a:sym typeface="Poppins"/>
              </a:rPr>
              <a:t> to update to ABP 10.0 (and check the </a:t>
            </a:r>
            <a:r>
              <a:rPr lang="tr-TR" u="sng">
                <a:solidFill>
                  <a:schemeClr val="hlink"/>
                </a:solidFill>
                <a:latin typeface="Poppins"/>
                <a:ea typeface="Poppins"/>
                <a:cs typeface="Poppins"/>
                <a:sym typeface="Poppins"/>
                <a:hlinkClick r:id="rId6"/>
              </a:rPr>
              <a:t>migration guide</a:t>
            </a:r>
            <a:r>
              <a:rPr lang="tr-TR">
                <a:solidFill>
                  <a:srgbClr val="5B636F"/>
                </a:solidFill>
                <a:latin typeface="Poppins"/>
                <a:ea typeface="Poppins"/>
                <a:cs typeface="Poppins"/>
                <a:sym typeface="Poppins"/>
              </a:rPr>
              <a:t> for fixes on your side):</a:t>
            </a:r>
            <a:endParaRPr b="0" i="0" sz="1700" u="none" cap="none" strike="noStrike">
              <a:solidFill>
                <a:srgbClr val="5B636F"/>
              </a:solidFill>
              <a:latin typeface="Poppins"/>
              <a:ea typeface="Poppins"/>
              <a:cs typeface="Poppins"/>
              <a:sym typeface="Poppins"/>
            </a:endParaRPr>
          </a:p>
        </p:txBody>
      </p:sp>
      <p:pic>
        <p:nvPicPr>
          <p:cNvPr id="134" name="Google Shape;134;g3a2f9e079f2_0_13" title="upgrade-abp-packages.png"/>
          <p:cNvPicPr preferRelativeResize="0"/>
          <p:nvPr/>
        </p:nvPicPr>
        <p:blipFill>
          <a:blip r:embed="rId7">
            <a:alphaModFix/>
          </a:blip>
          <a:stretch>
            <a:fillRect/>
          </a:stretch>
        </p:blipFill>
        <p:spPr>
          <a:xfrm>
            <a:off x="806450" y="2403050"/>
            <a:ext cx="5047099" cy="3757549"/>
          </a:xfrm>
          <a:prstGeom prst="rect">
            <a:avLst/>
          </a:prstGeom>
          <a:noFill/>
          <a:ln>
            <a:noFill/>
          </a:ln>
        </p:spPr>
      </p:pic>
      <p:pic>
        <p:nvPicPr>
          <p:cNvPr id="135" name="Google Shape;135;g3a2f9e079f2_0_13"/>
          <p:cNvPicPr preferRelativeResize="0"/>
          <p:nvPr/>
        </p:nvPicPr>
        <p:blipFill>
          <a:blip r:embed="rId8">
            <a:alphaModFix/>
          </a:blip>
          <a:stretch>
            <a:fillRect/>
          </a:stretch>
        </p:blipFill>
        <p:spPr>
          <a:xfrm>
            <a:off x="6040850" y="3613013"/>
            <a:ext cx="4831525" cy="1337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9" name="Shape 139"/>
        <p:cNvGrpSpPr/>
        <p:nvPr/>
      </p:nvGrpSpPr>
      <p:grpSpPr>
        <a:xfrm>
          <a:off x="0" y="0"/>
          <a:ext cx="0" cy="0"/>
          <a:chOff x="0" y="0"/>
          <a:chExt cx="0" cy="0"/>
        </a:xfrm>
      </p:grpSpPr>
      <p:sp>
        <p:nvSpPr>
          <p:cNvPr id="140" name="Google Shape;140;g3494f8583c9_0_78"/>
          <p:cNvSpPr txBox="1"/>
          <p:nvPr/>
        </p:nvSpPr>
        <p:spPr>
          <a:xfrm>
            <a:off x="194725" y="1553150"/>
            <a:ext cx="118116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tr-TR" sz="3400" u="none" cap="none" strike="noStrike">
                <a:solidFill>
                  <a:srgbClr val="292D33"/>
                </a:solidFill>
                <a:latin typeface="Lexend"/>
                <a:ea typeface="Lexend"/>
                <a:cs typeface="Lexend"/>
                <a:sym typeface="Lexend"/>
              </a:rPr>
              <a:t>Upgraded to </a:t>
            </a:r>
            <a:r>
              <a:rPr b="1" i="0" lang="tr-TR" sz="3400" u="none" cap="none" strike="noStrike">
                <a:solidFill>
                  <a:srgbClr val="E83090"/>
                </a:solidFill>
                <a:latin typeface="Lexend"/>
                <a:ea typeface="Lexend"/>
                <a:cs typeface="Lexend"/>
                <a:sym typeface="Lexend"/>
              </a:rPr>
              <a:t>Blazorise</a:t>
            </a:r>
            <a:r>
              <a:rPr b="1" i="0" lang="tr-TR" sz="3400" u="none" cap="none" strike="noStrike">
                <a:solidFill>
                  <a:srgbClr val="292D33"/>
                </a:solidFill>
                <a:latin typeface="Lexend"/>
                <a:ea typeface="Lexend"/>
                <a:cs typeface="Lexend"/>
                <a:sym typeface="Lexend"/>
              </a:rPr>
              <a:t> v1.</a:t>
            </a:r>
            <a:r>
              <a:rPr b="1" lang="tr-TR" sz="3400">
                <a:solidFill>
                  <a:srgbClr val="292D33"/>
                </a:solidFill>
                <a:latin typeface="Lexend"/>
                <a:ea typeface="Lexend"/>
                <a:cs typeface="Lexend"/>
                <a:sym typeface="Lexend"/>
              </a:rPr>
              <a:t>8.2</a:t>
            </a:r>
            <a:endParaRPr b="1" i="0" sz="3400" u="none" cap="none" strike="noStrike">
              <a:solidFill>
                <a:srgbClr val="292D33"/>
              </a:solidFill>
              <a:latin typeface="Lexend"/>
              <a:ea typeface="Lexend"/>
              <a:cs typeface="Lexend"/>
              <a:sym typeface="Lexend"/>
            </a:endParaRPr>
          </a:p>
        </p:txBody>
      </p:sp>
      <p:pic>
        <p:nvPicPr>
          <p:cNvPr id="141" name="Google Shape;141;g3494f8583c9_0_78"/>
          <p:cNvPicPr preferRelativeResize="0"/>
          <p:nvPr/>
        </p:nvPicPr>
        <p:blipFill>
          <a:blip r:embed="rId4">
            <a:alphaModFix/>
          </a:blip>
          <a:stretch>
            <a:fillRect/>
          </a:stretch>
        </p:blipFill>
        <p:spPr>
          <a:xfrm>
            <a:off x="1785750" y="2743200"/>
            <a:ext cx="8382000" cy="13716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5" name="Shape 145"/>
        <p:cNvGrpSpPr/>
        <p:nvPr/>
      </p:nvGrpSpPr>
      <p:grpSpPr>
        <a:xfrm>
          <a:off x="0" y="0"/>
          <a:ext cx="0" cy="0"/>
          <a:chOff x="0" y="0"/>
          <a:chExt cx="0" cy="0"/>
        </a:xfrm>
      </p:grpSpPr>
      <p:sp>
        <p:nvSpPr>
          <p:cNvPr id="146" name="Google Shape;146;g3494f8583c9_0_52"/>
          <p:cNvSpPr txBox="1"/>
          <p:nvPr/>
        </p:nvSpPr>
        <p:spPr>
          <a:xfrm>
            <a:off x="714375" y="542925"/>
            <a:ext cx="10771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lang="tr-TR" sz="2800">
                <a:solidFill>
                  <a:srgbClr val="292D33"/>
                </a:solidFill>
                <a:latin typeface="Lexend"/>
                <a:ea typeface="Lexend"/>
                <a:cs typeface="Lexend"/>
                <a:sym typeface="Lexend"/>
              </a:rPr>
              <a:t>Elsa Workflow Module (PRO)</a:t>
            </a:r>
            <a:endParaRPr b="1" i="0" sz="2800" u="none" cap="none" strike="noStrike">
              <a:solidFill>
                <a:srgbClr val="E83090"/>
              </a:solidFill>
              <a:latin typeface="Lexend"/>
              <a:ea typeface="Lexend"/>
              <a:cs typeface="Lexend"/>
              <a:sym typeface="Lexend"/>
            </a:endParaRPr>
          </a:p>
        </p:txBody>
      </p:sp>
      <p:pic>
        <p:nvPicPr>
          <p:cNvPr id="147" name="Google Shape;147;g3494f8583c9_0_52" title="elsa-workflow-instances.png"/>
          <p:cNvPicPr preferRelativeResize="0"/>
          <p:nvPr/>
        </p:nvPicPr>
        <p:blipFill>
          <a:blip r:embed="rId4">
            <a:alphaModFix/>
          </a:blip>
          <a:stretch>
            <a:fillRect/>
          </a:stretch>
        </p:blipFill>
        <p:spPr>
          <a:xfrm>
            <a:off x="804438" y="1186075"/>
            <a:ext cx="8708925" cy="51964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1" name="Shape 151"/>
        <p:cNvGrpSpPr/>
        <p:nvPr/>
      </p:nvGrpSpPr>
      <p:grpSpPr>
        <a:xfrm>
          <a:off x="0" y="0"/>
          <a:ext cx="0" cy="0"/>
          <a:chOff x="0" y="0"/>
          <a:chExt cx="0" cy="0"/>
        </a:xfrm>
      </p:grpSpPr>
      <p:sp>
        <p:nvSpPr>
          <p:cNvPr id="152" name="Google Shape;152;g3a2adfba100_0_21"/>
          <p:cNvSpPr txBox="1"/>
          <p:nvPr/>
        </p:nvSpPr>
        <p:spPr>
          <a:xfrm>
            <a:off x="710400" y="5099325"/>
            <a:ext cx="10771200" cy="1116000"/>
          </a:xfrm>
          <a:prstGeom prst="rect">
            <a:avLst/>
          </a:prstGeom>
          <a:noFill/>
          <a:ln>
            <a:noFill/>
          </a:ln>
        </p:spPr>
        <p:txBody>
          <a:bodyPr anchorCtr="0" anchor="t" bIns="91425" lIns="91425" spcFirstLastPara="1" rIns="91425" wrap="square" tIns="91425">
            <a:spAutoFit/>
          </a:bodyPr>
          <a:lstStyle/>
          <a:p>
            <a:pPr indent="0" lvl="0" marL="0" marR="0" rtl="0" algn="l">
              <a:lnSpc>
                <a:spcPct val="175000"/>
              </a:lnSpc>
              <a:spcBef>
                <a:spcPts val="0"/>
              </a:spcBef>
              <a:spcAft>
                <a:spcPts val="0"/>
              </a:spcAft>
              <a:buNone/>
            </a:pPr>
            <a:r>
              <a:rPr b="1" lang="tr-TR" sz="2200">
                <a:solidFill>
                  <a:srgbClr val="5B636F"/>
                </a:solidFill>
                <a:latin typeface="Poppins"/>
                <a:ea typeface="Poppins"/>
                <a:cs typeface="Poppins"/>
                <a:sym typeface="Poppins"/>
              </a:rPr>
              <a:t>Sample: </a:t>
            </a:r>
            <a:r>
              <a:rPr b="0" i="0" lang="tr-TR" sz="2200" u="none" cap="none" strike="noStrike">
                <a:solidFill>
                  <a:srgbClr val="5B636F"/>
                </a:solidFill>
                <a:latin typeface="Poppins"/>
                <a:ea typeface="Poppins"/>
                <a:cs typeface="Poppins"/>
                <a:sym typeface="Poppins"/>
              </a:rPr>
              <a:t> </a:t>
            </a:r>
            <a:r>
              <a:rPr lang="tr-TR" sz="2200" u="sng">
                <a:solidFill>
                  <a:schemeClr val="hlink"/>
                </a:solidFill>
                <a:latin typeface="Poppins"/>
                <a:ea typeface="Poppins"/>
                <a:cs typeface="Poppins"/>
                <a:sym typeface="Poppins"/>
                <a:hlinkClick r:id="rId4"/>
              </a:rPr>
              <a:t>https://abp.io/docs/10.0/samples/elsa-workflows-demo</a:t>
            </a:r>
            <a:endParaRPr sz="2200">
              <a:solidFill>
                <a:srgbClr val="5B636F"/>
              </a:solidFill>
              <a:latin typeface="Poppins"/>
              <a:ea typeface="Poppins"/>
              <a:cs typeface="Poppins"/>
              <a:sym typeface="Poppins"/>
            </a:endParaRPr>
          </a:p>
          <a:p>
            <a:pPr indent="0" lvl="0" marL="0" marR="0" rtl="0" algn="l">
              <a:lnSpc>
                <a:spcPct val="175000"/>
              </a:lnSpc>
              <a:spcBef>
                <a:spcPts val="0"/>
              </a:spcBef>
              <a:spcAft>
                <a:spcPts val="0"/>
              </a:spcAft>
              <a:buNone/>
            </a:pPr>
            <a:r>
              <a:rPr b="1" lang="tr-TR" sz="2200">
                <a:solidFill>
                  <a:srgbClr val="5B636F"/>
                </a:solidFill>
                <a:latin typeface="Poppins"/>
                <a:ea typeface="Poppins"/>
                <a:cs typeface="Poppins"/>
                <a:sym typeface="Poppins"/>
              </a:rPr>
              <a:t>Documentation</a:t>
            </a:r>
            <a:r>
              <a:rPr lang="tr-TR" sz="2200">
                <a:solidFill>
                  <a:srgbClr val="5B636F"/>
                </a:solidFill>
                <a:latin typeface="Poppins"/>
                <a:ea typeface="Poppins"/>
                <a:cs typeface="Poppins"/>
                <a:sym typeface="Poppins"/>
              </a:rPr>
              <a:t>: </a:t>
            </a:r>
            <a:r>
              <a:rPr lang="tr-TR" sz="2200" u="sng">
                <a:solidFill>
                  <a:schemeClr val="hlink"/>
                </a:solidFill>
                <a:latin typeface="Poppins"/>
                <a:ea typeface="Poppins"/>
                <a:cs typeface="Poppins"/>
                <a:sym typeface="Poppins"/>
                <a:hlinkClick r:id="rId5"/>
              </a:rPr>
              <a:t>https://abp.io/docs/10.0/modules/elsa-pro</a:t>
            </a:r>
            <a:endParaRPr sz="2200">
              <a:solidFill>
                <a:srgbClr val="5B636F"/>
              </a:solidFill>
              <a:latin typeface="Poppins"/>
              <a:ea typeface="Poppins"/>
              <a:cs typeface="Poppins"/>
              <a:sym typeface="Poppins"/>
            </a:endParaRPr>
          </a:p>
        </p:txBody>
      </p:sp>
      <p:pic>
        <p:nvPicPr>
          <p:cNvPr id="153" name="Google Shape;153;g3a2adfba100_0_21" title="elsa-module-structure.png"/>
          <p:cNvPicPr preferRelativeResize="0"/>
          <p:nvPr/>
        </p:nvPicPr>
        <p:blipFill>
          <a:blip r:embed="rId6">
            <a:alphaModFix/>
          </a:blip>
          <a:stretch>
            <a:fillRect/>
          </a:stretch>
        </p:blipFill>
        <p:spPr>
          <a:xfrm>
            <a:off x="714375" y="397950"/>
            <a:ext cx="4880295" cy="4404925"/>
          </a:xfrm>
          <a:prstGeom prst="rect">
            <a:avLst/>
          </a:prstGeom>
          <a:noFill/>
          <a:ln>
            <a:noFill/>
          </a:ln>
        </p:spPr>
      </p:pic>
      <p:pic>
        <p:nvPicPr>
          <p:cNvPr id="154" name="Google Shape;154;g3a2adfba100_0_21" title="elsa-password-login.png"/>
          <p:cNvPicPr preferRelativeResize="0"/>
          <p:nvPr/>
        </p:nvPicPr>
        <p:blipFill>
          <a:blip r:embed="rId7">
            <a:alphaModFix/>
          </a:blip>
          <a:stretch>
            <a:fillRect/>
          </a:stretch>
        </p:blipFill>
        <p:spPr>
          <a:xfrm>
            <a:off x="6226776" y="397938"/>
            <a:ext cx="5193218" cy="440494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8" name="Shape 158"/>
        <p:cNvGrpSpPr/>
        <p:nvPr/>
      </p:nvGrpSpPr>
      <p:grpSpPr>
        <a:xfrm>
          <a:off x="0" y="0"/>
          <a:ext cx="0" cy="0"/>
          <a:chOff x="0" y="0"/>
          <a:chExt cx="0" cy="0"/>
        </a:xfrm>
      </p:grpSpPr>
      <p:sp>
        <p:nvSpPr>
          <p:cNvPr id="159" name="Google Shape;159;g3a2f9e079f2_0_26"/>
          <p:cNvSpPr txBox="1"/>
          <p:nvPr/>
        </p:nvSpPr>
        <p:spPr>
          <a:xfrm>
            <a:off x="714375" y="778393"/>
            <a:ext cx="10771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lang="tr-TR" sz="2800">
                <a:solidFill>
                  <a:srgbClr val="292D33"/>
                </a:solidFill>
                <a:latin typeface="Lexend"/>
                <a:ea typeface="Lexend"/>
                <a:cs typeface="Lexend"/>
                <a:sym typeface="Lexend"/>
              </a:rPr>
              <a:t>New Object Mapper: </a:t>
            </a:r>
            <a:r>
              <a:rPr b="1" lang="tr-TR" sz="2800">
                <a:solidFill>
                  <a:srgbClr val="E83090"/>
                </a:solidFill>
                <a:latin typeface="Lexend"/>
                <a:ea typeface="Lexend"/>
                <a:cs typeface="Lexend"/>
                <a:sym typeface="Lexend"/>
              </a:rPr>
              <a:t>Mapperly</a:t>
            </a:r>
            <a:endParaRPr b="1" i="0" sz="2800" u="none" cap="none" strike="noStrike">
              <a:solidFill>
                <a:srgbClr val="E83090"/>
              </a:solidFill>
              <a:latin typeface="Lexend"/>
              <a:ea typeface="Lexend"/>
              <a:cs typeface="Lexend"/>
              <a:sym typeface="Lexend"/>
            </a:endParaRPr>
          </a:p>
        </p:txBody>
      </p:sp>
      <p:pic>
        <p:nvPicPr>
          <p:cNvPr id="160" name="Google Shape;160;g3a2f9e079f2_0_26"/>
          <p:cNvPicPr preferRelativeResize="0"/>
          <p:nvPr/>
        </p:nvPicPr>
        <p:blipFill>
          <a:blip r:embed="rId4">
            <a:alphaModFix/>
          </a:blip>
          <a:stretch>
            <a:fillRect/>
          </a:stretch>
        </p:blipFill>
        <p:spPr>
          <a:xfrm>
            <a:off x="789050" y="1498693"/>
            <a:ext cx="7098001" cy="433155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4" name="Shape 164"/>
        <p:cNvGrpSpPr/>
        <p:nvPr/>
      </p:nvGrpSpPr>
      <p:grpSpPr>
        <a:xfrm>
          <a:off x="0" y="0"/>
          <a:ext cx="0" cy="0"/>
          <a:chOff x="0" y="0"/>
          <a:chExt cx="0" cy="0"/>
        </a:xfrm>
      </p:grpSpPr>
      <p:pic>
        <p:nvPicPr>
          <p:cNvPr id="165" name="Google Shape;165;g3a2f9e079f2_0_33"/>
          <p:cNvPicPr preferRelativeResize="0"/>
          <p:nvPr/>
        </p:nvPicPr>
        <p:blipFill>
          <a:blip r:embed="rId4">
            <a:alphaModFix/>
          </a:blip>
          <a:stretch>
            <a:fillRect/>
          </a:stretch>
        </p:blipFill>
        <p:spPr>
          <a:xfrm>
            <a:off x="2096325" y="551063"/>
            <a:ext cx="7999326" cy="5755876"/>
          </a:xfrm>
          <a:prstGeom prst="rect">
            <a:avLst/>
          </a:prstGeom>
          <a:noFill/>
          <a:ln>
            <a:noFill/>
          </a:ln>
        </p:spPr>
      </p:pic>
      <p:pic>
        <p:nvPicPr>
          <p:cNvPr id="166" name="Google Shape;166;g3a2f9e079f2_0_33"/>
          <p:cNvPicPr preferRelativeResize="0"/>
          <p:nvPr/>
        </p:nvPicPr>
        <p:blipFill>
          <a:blip r:embed="rId5">
            <a:alphaModFix/>
          </a:blip>
          <a:stretch>
            <a:fillRect/>
          </a:stretch>
        </p:blipFill>
        <p:spPr>
          <a:xfrm>
            <a:off x="1067000" y="1229062"/>
            <a:ext cx="10057999" cy="4399925"/>
          </a:xfrm>
          <a:prstGeom prst="rect">
            <a:avLst/>
          </a:prstGeom>
          <a:noFill/>
          <a:ln>
            <a:noFill/>
          </a:ln>
        </p:spPr>
      </p:pic>
      <p:pic>
        <p:nvPicPr>
          <p:cNvPr id="167" name="Google Shape;167;g3a2f9e079f2_0_33"/>
          <p:cNvPicPr preferRelativeResize="0"/>
          <p:nvPr/>
        </p:nvPicPr>
        <p:blipFill>
          <a:blip r:embed="rId6">
            <a:alphaModFix/>
          </a:blip>
          <a:stretch>
            <a:fillRect/>
          </a:stretch>
        </p:blipFill>
        <p:spPr>
          <a:xfrm>
            <a:off x="3497100" y="427925"/>
            <a:ext cx="5197793" cy="60021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6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6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1" name="Shape 171"/>
        <p:cNvGrpSpPr/>
        <p:nvPr/>
      </p:nvGrpSpPr>
      <p:grpSpPr>
        <a:xfrm>
          <a:off x="0" y="0"/>
          <a:ext cx="0" cy="0"/>
          <a:chOff x="0" y="0"/>
          <a:chExt cx="0" cy="0"/>
        </a:xfrm>
      </p:grpSpPr>
      <p:sp>
        <p:nvSpPr>
          <p:cNvPr id="172" name="Google Shape;172;g3a2f9e079f2_0_41"/>
          <p:cNvSpPr txBox="1"/>
          <p:nvPr/>
        </p:nvSpPr>
        <p:spPr>
          <a:xfrm>
            <a:off x="709500" y="948275"/>
            <a:ext cx="10773000" cy="6309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tr-TR">
                <a:solidFill>
                  <a:srgbClr val="5B636F"/>
                </a:solidFill>
                <a:latin typeface="Poppins"/>
                <a:ea typeface="Poppins"/>
                <a:cs typeface="Poppins"/>
                <a:sym typeface="Poppins"/>
              </a:rPr>
              <a:t>⚠️</a:t>
            </a:r>
            <a:r>
              <a:rPr lang="tr-TR">
                <a:solidFill>
                  <a:srgbClr val="E83090"/>
                </a:solidFill>
                <a:latin typeface="Poppins"/>
                <a:ea typeface="Poppins"/>
                <a:cs typeface="Poppins"/>
                <a:sym typeface="Poppins"/>
              </a:rPr>
              <a:t>Volo.Abp.AutoMapper</a:t>
            </a:r>
            <a:r>
              <a:rPr lang="tr-TR">
                <a:solidFill>
                  <a:srgbClr val="5B636F"/>
                </a:solidFill>
                <a:latin typeface="Poppins"/>
                <a:ea typeface="Poppins"/>
                <a:cs typeface="Poppins"/>
                <a:sym typeface="Poppins"/>
              </a:rPr>
              <a:t> package remains available for </a:t>
            </a:r>
            <a:r>
              <a:rPr b="1" lang="tr-TR">
                <a:solidFill>
                  <a:srgbClr val="5B636F"/>
                </a:solidFill>
                <a:latin typeface="Poppins"/>
                <a:ea typeface="Poppins"/>
                <a:cs typeface="Poppins"/>
                <a:sym typeface="Poppins"/>
              </a:rPr>
              <a:t>backward compatibility</a:t>
            </a:r>
            <a:r>
              <a:rPr lang="tr-TR">
                <a:solidFill>
                  <a:srgbClr val="5B636F"/>
                </a:solidFill>
                <a:latin typeface="Poppins"/>
                <a:ea typeface="Poppins"/>
                <a:cs typeface="Poppins"/>
                <a:sym typeface="Poppins"/>
              </a:rPr>
              <a:t>. </a:t>
            </a:r>
            <a:r>
              <a:rPr lang="tr-TR">
                <a:solidFill>
                  <a:srgbClr val="5B636F"/>
                </a:solidFill>
                <a:latin typeface="Poppins"/>
                <a:ea typeface="Poppins"/>
                <a:cs typeface="Poppins"/>
                <a:sym typeface="Poppins"/>
              </a:rPr>
              <a:t>You</a:t>
            </a:r>
            <a:r>
              <a:rPr lang="tr-TR">
                <a:solidFill>
                  <a:srgbClr val="5B636F"/>
                </a:solidFill>
                <a:latin typeface="Poppins"/>
                <a:ea typeface="Poppins"/>
                <a:cs typeface="Poppins"/>
                <a:sym typeface="Poppins"/>
              </a:rPr>
              <a:t> can keep using </a:t>
            </a:r>
            <a:r>
              <a:rPr b="1" lang="tr-TR">
                <a:solidFill>
                  <a:srgbClr val="5B636F"/>
                </a:solidFill>
                <a:latin typeface="Poppins"/>
                <a:ea typeface="Poppins"/>
                <a:cs typeface="Poppins"/>
                <a:sym typeface="Poppins"/>
              </a:rPr>
              <a:t>AutoMapper</a:t>
            </a:r>
            <a:r>
              <a:rPr lang="tr-TR">
                <a:solidFill>
                  <a:srgbClr val="5B636F"/>
                </a:solidFill>
                <a:latin typeface="Poppins"/>
                <a:ea typeface="Poppins"/>
                <a:cs typeface="Poppins"/>
                <a:sym typeface="Poppins"/>
              </a:rPr>
              <a:t> in your solutions, but you are responsible for obtaining and managing its license if needed.</a:t>
            </a:r>
            <a:endParaRPr>
              <a:solidFill>
                <a:srgbClr val="5B636F"/>
              </a:solidFill>
              <a:latin typeface="Poppins"/>
              <a:ea typeface="Poppins"/>
              <a:cs typeface="Poppins"/>
              <a:sym typeface="Poppins"/>
            </a:endParaRPr>
          </a:p>
        </p:txBody>
      </p:sp>
      <p:pic>
        <p:nvPicPr>
          <p:cNvPr id="173" name="Google Shape;173;g3a2f9e079f2_0_41"/>
          <p:cNvPicPr preferRelativeResize="0"/>
          <p:nvPr/>
        </p:nvPicPr>
        <p:blipFill>
          <a:blip r:embed="rId4">
            <a:alphaModFix/>
          </a:blip>
          <a:stretch>
            <a:fillRect/>
          </a:stretch>
        </p:blipFill>
        <p:spPr>
          <a:xfrm>
            <a:off x="806475" y="1871125"/>
            <a:ext cx="7361752" cy="4333026"/>
          </a:xfrm>
          <a:prstGeom prst="rect">
            <a:avLst/>
          </a:prstGeom>
          <a:noFill/>
          <a:ln>
            <a:noFill/>
          </a:ln>
        </p:spPr>
      </p:pic>
      <p:pic>
        <p:nvPicPr>
          <p:cNvPr id="174" name="Google Shape;174;g3a2f9e079f2_0_41"/>
          <p:cNvPicPr preferRelativeResize="0"/>
          <p:nvPr/>
        </p:nvPicPr>
        <p:blipFill rotWithShape="1">
          <a:blip r:embed="rId5">
            <a:alphaModFix/>
          </a:blip>
          <a:srcRect b="0" l="0" r="0" t="0"/>
          <a:stretch/>
        </p:blipFill>
        <p:spPr>
          <a:xfrm>
            <a:off x="9180599" y="3965551"/>
            <a:ext cx="2568375" cy="2568375"/>
          </a:xfrm>
          <a:prstGeom prst="rect">
            <a:avLst/>
          </a:prstGeom>
          <a:noFill/>
          <a:ln>
            <a:noFill/>
          </a:ln>
        </p:spPr>
      </p:pic>
      <p:sp>
        <p:nvSpPr>
          <p:cNvPr id="175" name="Google Shape;175;g3a2f9e079f2_0_41"/>
          <p:cNvSpPr txBox="1"/>
          <p:nvPr/>
        </p:nvSpPr>
        <p:spPr>
          <a:xfrm>
            <a:off x="9295388" y="3601331"/>
            <a:ext cx="2338800" cy="2925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700"/>
              <a:buFont typeface="Arial"/>
              <a:buNone/>
            </a:pPr>
            <a:r>
              <a:rPr b="0" i="0" lang="tr-TR" sz="1300" u="none" cap="none" strike="noStrike">
                <a:solidFill>
                  <a:srgbClr val="5B636F"/>
                </a:solidFill>
                <a:latin typeface="Poppins"/>
                <a:ea typeface="Poppins"/>
                <a:cs typeface="Poppins"/>
                <a:sym typeface="Poppins"/>
              </a:rPr>
              <a:t>Read the </a:t>
            </a:r>
            <a:r>
              <a:rPr lang="tr-TR" sz="1300">
                <a:solidFill>
                  <a:srgbClr val="5B636F"/>
                </a:solidFill>
                <a:latin typeface="Poppins"/>
                <a:ea typeface="Poppins"/>
                <a:cs typeface="Poppins"/>
                <a:sym typeface="Poppins"/>
              </a:rPr>
              <a:t>migration guide:</a:t>
            </a:r>
            <a:endParaRPr b="0" i="0" sz="1600" u="none" cap="none" strike="noStrike">
              <a:solidFill>
                <a:srgbClr val="5B636F"/>
              </a:solidFill>
              <a:latin typeface="Poppins"/>
              <a:ea typeface="Poppins"/>
              <a:cs typeface="Poppins"/>
              <a:sym typeface="Poppins"/>
            </a:endParaRPr>
          </a:p>
        </p:txBody>
      </p:sp>
      <p:pic>
        <p:nvPicPr>
          <p:cNvPr id="176" name="Google Shape;176;g3a2f9e079f2_0_41" title="Untitled design.png"/>
          <p:cNvPicPr preferRelativeResize="0"/>
          <p:nvPr/>
        </p:nvPicPr>
        <p:blipFill>
          <a:blip r:embed="rId6">
            <a:alphaModFix/>
          </a:blip>
          <a:stretch>
            <a:fillRect/>
          </a:stretch>
        </p:blipFill>
        <p:spPr>
          <a:xfrm>
            <a:off x="9302001" y="4086943"/>
            <a:ext cx="2325576" cy="2325576"/>
          </a:xfrm>
          <a:prstGeom prst="rect">
            <a:avLst/>
          </a:prstGeom>
          <a:noFill/>
          <a:ln>
            <a:noFill/>
          </a:ln>
        </p:spPr>
      </p:pic>
      <p:pic>
        <p:nvPicPr>
          <p:cNvPr id="177" name="Google Shape;177;g3a2f9e079f2_0_41"/>
          <p:cNvPicPr preferRelativeResize="0"/>
          <p:nvPr/>
        </p:nvPicPr>
        <p:blipFill>
          <a:blip r:embed="rId7">
            <a:alphaModFix/>
          </a:blip>
          <a:stretch>
            <a:fillRect/>
          </a:stretch>
        </p:blipFill>
        <p:spPr>
          <a:xfrm>
            <a:off x="806475" y="1871125"/>
            <a:ext cx="5297684" cy="4541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7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1" name="Shape 181"/>
        <p:cNvGrpSpPr/>
        <p:nvPr/>
      </p:nvGrpSpPr>
      <p:grpSpPr>
        <a:xfrm>
          <a:off x="0" y="0"/>
          <a:ext cx="0" cy="0"/>
          <a:chOff x="0" y="0"/>
          <a:chExt cx="0" cy="0"/>
        </a:xfrm>
      </p:grpSpPr>
      <p:sp>
        <p:nvSpPr>
          <p:cNvPr id="182" name="Google Shape;182;g3a2f9e079f2_0_55"/>
          <p:cNvSpPr txBox="1"/>
          <p:nvPr/>
        </p:nvSpPr>
        <p:spPr>
          <a:xfrm>
            <a:off x="710400" y="537409"/>
            <a:ext cx="10771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lang="tr-TR" sz="2800">
                <a:solidFill>
                  <a:srgbClr val="292D33"/>
                </a:solidFill>
                <a:latin typeface="Lexend"/>
                <a:ea typeface="Lexend"/>
                <a:cs typeface="Lexend"/>
                <a:sym typeface="Lexend"/>
              </a:rPr>
              <a:t>Localization: Nested Object Support in JSON</a:t>
            </a:r>
            <a:endParaRPr b="1" i="0" sz="2800" u="none" cap="none" strike="noStrike">
              <a:solidFill>
                <a:srgbClr val="E83090"/>
              </a:solidFill>
              <a:latin typeface="Lexend"/>
              <a:ea typeface="Lexend"/>
              <a:cs typeface="Lexend"/>
              <a:sym typeface="Lexend"/>
            </a:endParaRPr>
          </a:p>
        </p:txBody>
      </p:sp>
      <p:pic>
        <p:nvPicPr>
          <p:cNvPr id="183" name="Google Shape;183;g3a2f9e079f2_0_55"/>
          <p:cNvPicPr preferRelativeResize="0"/>
          <p:nvPr/>
        </p:nvPicPr>
        <p:blipFill>
          <a:blip r:embed="rId4">
            <a:alphaModFix/>
          </a:blip>
          <a:stretch>
            <a:fillRect/>
          </a:stretch>
        </p:blipFill>
        <p:spPr>
          <a:xfrm>
            <a:off x="710400" y="1373685"/>
            <a:ext cx="10964999" cy="3219875"/>
          </a:xfrm>
          <a:prstGeom prst="rect">
            <a:avLst/>
          </a:prstGeom>
          <a:noFill/>
          <a:ln>
            <a:noFill/>
          </a:ln>
        </p:spPr>
      </p:pic>
      <p:pic>
        <p:nvPicPr>
          <p:cNvPr id="184" name="Google Shape;184;g3a2f9e079f2_0_55"/>
          <p:cNvPicPr preferRelativeResize="0"/>
          <p:nvPr/>
        </p:nvPicPr>
        <p:blipFill>
          <a:blip r:embed="rId5">
            <a:alphaModFix/>
          </a:blip>
          <a:stretch>
            <a:fillRect/>
          </a:stretch>
        </p:blipFill>
        <p:spPr>
          <a:xfrm>
            <a:off x="710400" y="4836332"/>
            <a:ext cx="11035200" cy="1513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8" name="Shape 188"/>
        <p:cNvGrpSpPr/>
        <p:nvPr/>
      </p:nvGrpSpPr>
      <p:grpSpPr>
        <a:xfrm>
          <a:off x="0" y="0"/>
          <a:ext cx="0" cy="0"/>
          <a:chOff x="0" y="0"/>
          <a:chExt cx="0" cy="0"/>
        </a:xfrm>
      </p:grpSpPr>
      <p:sp>
        <p:nvSpPr>
          <p:cNvPr id="189" name="Google Shape;189;g3a2f9e079f2_0_65"/>
          <p:cNvSpPr txBox="1"/>
          <p:nvPr/>
        </p:nvSpPr>
        <p:spPr>
          <a:xfrm>
            <a:off x="710400" y="728188"/>
            <a:ext cx="10771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lang="tr-TR" sz="2800">
                <a:solidFill>
                  <a:srgbClr val="292D33"/>
                </a:solidFill>
                <a:latin typeface="Lexend"/>
                <a:ea typeface="Lexend"/>
                <a:cs typeface="Lexend"/>
                <a:sym typeface="Lexend"/>
              </a:rPr>
              <a:t>EF Core Shared Entity Types on Repositories</a:t>
            </a:r>
            <a:endParaRPr b="1" i="0" sz="2800" u="none" cap="none" strike="noStrike">
              <a:solidFill>
                <a:srgbClr val="E83090"/>
              </a:solidFill>
              <a:latin typeface="Lexend"/>
              <a:ea typeface="Lexend"/>
              <a:cs typeface="Lexend"/>
              <a:sym typeface="Lexend"/>
            </a:endParaRPr>
          </a:p>
        </p:txBody>
      </p:sp>
      <p:sp>
        <p:nvSpPr>
          <p:cNvPr id="190" name="Google Shape;190;g3a2f9e079f2_0_65"/>
          <p:cNvSpPr txBox="1"/>
          <p:nvPr/>
        </p:nvSpPr>
        <p:spPr>
          <a:xfrm>
            <a:off x="709500" y="1500529"/>
            <a:ext cx="10773000" cy="12774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tr-TR">
                <a:solidFill>
                  <a:srgbClr val="5B636F"/>
                </a:solidFill>
                <a:latin typeface="Poppins"/>
                <a:ea typeface="Poppins"/>
                <a:cs typeface="Poppins"/>
                <a:sym typeface="Poppins"/>
              </a:rPr>
              <a:t>ABP now support EF Core </a:t>
            </a:r>
            <a:r>
              <a:rPr b="1" lang="tr-TR">
                <a:solidFill>
                  <a:srgbClr val="5B636F"/>
                </a:solidFill>
                <a:latin typeface="Poppins"/>
                <a:ea typeface="Poppins"/>
                <a:cs typeface="Poppins"/>
                <a:sym typeface="Poppins"/>
              </a:rPr>
              <a:t>shared-type</a:t>
            </a:r>
            <a:r>
              <a:rPr lang="tr-TR">
                <a:solidFill>
                  <a:srgbClr val="5B636F"/>
                </a:solidFill>
                <a:latin typeface="Poppins"/>
                <a:ea typeface="Poppins"/>
                <a:cs typeface="Poppins"/>
                <a:sym typeface="Poppins"/>
              </a:rPr>
              <a:t> </a:t>
            </a:r>
            <a:r>
              <a:rPr b="1" lang="tr-TR">
                <a:solidFill>
                  <a:srgbClr val="5B636F"/>
                </a:solidFill>
                <a:latin typeface="Poppins"/>
                <a:ea typeface="Poppins"/>
                <a:cs typeface="Poppins"/>
                <a:sym typeface="Poppins"/>
              </a:rPr>
              <a:t>entity</a:t>
            </a:r>
            <a:r>
              <a:rPr lang="tr-TR">
                <a:solidFill>
                  <a:srgbClr val="5B636F"/>
                </a:solidFill>
                <a:latin typeface="Poppins"/>
                <a:ea typeface="Poppins"/>
                <a:cs typeface="Poppins"/>
                <a:sym typeface="Poppins"/>
              </a:rPr>
              <a:t> types by allowing a custom entity name to be set on a repository before performing operations. Internally, it uses EF Core’s </a:t>
            </a:r>
            <a:r>
              <a:rPr b="1" lang="tr-TR">
                <a:solidFill>
                  <a:srgbClr val="E83090"/>
                </a:solidFill>
                <a:latin typeface="Poppins"/>
                <a:ea typeface="Poppins"/>
                <a:cs typeface="Poppins"/>
                <a:sym typeface="Poppins"/>
              </a:rPr>
              <a:t>DbContext.Set&lt;T&gt;(string name)</a:t>
            </a:r>
            <a:r>
              <a:rPr lang="tr-TR">
                <a:solidFill>
                  <a:srgbClr val="5B636F"/>
                </a:solidFill>
                <a:latin typeface="Poppins"/>
                <a:ea typeface="Poppins"/>
                <a:cs typeface="Poppins"/>
                <a:sym typeface="Poppins"/>
              </a:rPr>
              <a:t> to target the correct </a:t>
            </a:r>
            <a:r>
              <a:rPr b="1" lang="tr-TR">
                <a:solidFill>
                  <a:srgbClr val="E83090"/>
                </a:solidFill>
                <a:latin typeface="Poppins"/>
                <a:ea typeface="Poppins"/>
                <a:cs typeface="Poppins"/>
                <a:sym typeface="Poppins"/>
              </a:rPr>
              <a:t>DbSet</a:t>
            </a:r>
            <a:r>
              <a:rPr lang="tr-TR">
                <a:solidFill>
                  <a:srgbClr val="5B636F"/>
                </a:solidFill>
                <a:latin typeface="Poppins"/>
                <a:ea typeface="Poppins"/>
                <a:cs typeface="Poppins"/>
                <a:sym typeface="Poppins"/>
              </a:rPr>
              <a:t>/table for the same CLR type, enabling scenarios like per-tenant tables, archives, or partitioning, and you can switch the target at runtime.</a:t>
            </a:r>
            <a:endParaRPr>
              <a:solidFill>
                <a:srgbClr val="5B636F"/>
              </a:solidFill>
              <a:latin typeface="Poppins"/>
              <a:ea typeface="Poppins"/>
              <a:cs typeface="Poppins"/>
              <a:sym typeface="Poppins"/>
            </a:endParaRPr>
          </a:p>
        </p:txBody>
      </p:sp>
      <p:pic>
        <p:nvPicPr>
          <p:cNvPr id="191" name="Google Shape;191;g3a2f9e079f2_0_65"/>
          <p:cNvPicPr preferRelativeResize="0"/>
          <p:nvPr/>
        </p:nvPicPr>
        <p:blipFill>
          <a:blip r:embed="rId4">
            <a:alphaModFix/>
          </a:blip>
          <a:stretch>
            <a:fillRect/>
          </a:stretch>
        </p:blipFill>
        <p:spPr>
          <a:xfrm>
            <a:off x="710400" y="3111054"/>
            <a:ext cx="10771201" cy="250847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5" name="Shape 195"/>
        <p:cNvGrpSpPr/>
        <p:nvPr/>
      </p:nvGrpSpPr>
      <p:grpSpPr>
        <a:xfrm>
          <a:off x="0" y="0"/>
          <a:ext cx="0" cy="0"/>
          <a:chOff x="0" y="0"/>
          <a:chExt cx="0" cy="0"/>
        </a:xfrm>
      </p:grpSpPr>
      <p:sp>
        <p:nvSpPr>
          <p:cNvPr id="196" name="Google Shape;196;g3a2f9e079f2_0_73"/>
          <p:cNvSpPr txBox="1"/>
          <p:nvPr/>
        </p:nvSpPr>
        <p:spPr>
          <a:xfrm>
            <a:off x="710400" y="728188"/>
            <a:ext cx="10771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lang="tr-TR" sz="2800">
                <a:solidFill>
                  <a:srgbClr val="292D33"/>
                </a:solidFill>
                <a:latin typeface="Lexend"/>
                <a:ea typeface="Lexend"/>
                <a:cs typeface="Lexend"/>
                <a:sym typeface="Lexend"/>
              </a:rPr>
              <a:t>Angular SSR</a:t>
            </a:r>
            <a:endParaRPr b="1" i="0" sz="2800" u="none" cap="none" strike="noStrike">
              <a:solidFill>
                <a:srgbClr val="E83090"/>
              </a:solidFill>
              <a:latin typeface="Lexend"/>
              <a:ea typeface="Lexend"/>
              <a:cs typeface="Lexend"/>
              <a:sym typeface="Lexend"/>
            </a:endParaRPr>
          </a:p>
        </p:txBody>
      </p:sp>
      <p:pic>
        <p:nvPicPr>
          <p:cNvPr id="197" name="Google Shape;197;g3a2f9e079f2_0_73"/>
          <p:cNvPicPr preferRelativeResize="0"/>
          <p:nvPr/>
        </p:nvPicPr>
        <p:blipFill>
          <a:blip r:embed="rId4">
            <a:alphaModFix/>
          </a:blip>
          <a:stretch>
            <a:fillRect/>
          </a:stretch>
        </p:blipFill>
        <p:spPr>
          <a:xfrm>
            <a:off x="784975" y="1442150"/>
            <a:ext cx="8932674" cy="429527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1" name="Shape 201"/>
        <p:cNvGrpSpPr/>
        <p:nvPr/>
      </p:nvGrpSpPr>
      <p:grpSpPr>
        <a:xfrm>
          <a:off x="0" y="0"/>
          <a:ext cx="0" cy="0"/>
          <a:chOff x="0" y="0"/>
          <a:chExt cx="0" cy="0"/>
        </a:xfrm>
      </p:grpSpPr>
      <p:sp>
        <p:nvSpPr>
          <p:cNvPr id="202" name="Google Shape;202;g3494f8583c9_0_42"/>
          <p:cNvSpPr txBox="1"/>
          <p:nvPr/>
        </p:nvSpPr>
        <p:spPr>
          <a:xfrm>
            <a:off x="562100" y="1232209"/>
            <a:ext cx="8208600" cy="6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tr-TR" sz="3400" u="none" cap="none" strike="noStrike">
                <a:solidFill>
                  <a:srgbClr val="292D33"/>
                </a:solidFill>
                <a:latin typeface="Lexend"/>
                <a:ea typeface="Lexend"/>
                <a:cs typeface="Lexend"/>
                <a:sym typeface="Lexend"/>
              </a:rPr>
              <a:t>Migration Guides (v9.</a:t>
            </a:r>
            <a:r>
              <a:rPr b="1" lang="tr-TR" sz="3400">
                <a:solidFill>
                  <a:srgbClr val="292D33"/>
                </a:solidFill>
                <a:latin typeface="Lexend"/>
                <a:ea typeface="Lexend"/>
                <a:cs typeface="Lexend"/>
                <a:sym typeface="Lexend"/>
              </a:rPr>
              <a:t>x</a:t>
            </a:r>
            <a:r>
              <a:rPr b="1" i="0" lang="tr-TR" sz="3400" u="none" cap="none" strike="noStrike">
                <a:solidFill>
                  <a:srgbClr val="292D33"/>
                </a:solidFill>
                <a:latin typeface="Lexend"/>
                <a:ea typeface="Lexend"/>
                <a:cs typeface="Lexend"/>
                <a:sym typeface="Lexend"/>
              </a:rPr>
              <a:t> to v</a:t>
            </a:r>
            <a:r>
              <a:rPr b="1" lang="tr-TR" sz="3400">
                <a:solidFill>
                  <a:srgbClr val="292D33"/>
                </a:solidFill>
                <a:latin typeface="Lexend"/>
                <a:ea typeface="Lexend"/>
                <a:cs typeface="Lexend"/>
                <a:sym typeface="Lexend"/>
              </a:rPr>
              <a:t>10.0</a:t>
            </a:r>
            <a:r>
              <a:rPr b="1" i="0" lang="tr-TR" sz="3400" u="none" cap="none" strike="noStrike">
                <a:solidFill>
                  <a:srgbClr val="292D33"/>
                </a:solidFill>
                <a:latin typeface="Lexend"/>
                <a:ea typeface="Lexend"/>
                <a:cs typeface="Lexend"/>
                <a:sym typeface="Lexend"/>
              </a:rPr>
              <a:t>)</a:t>
            </a:r>
            <a:endParaRPr b="1" i="0" sz="3400" u="none" cap="none" strike="noStrike">
              <a:solidFill>
                <a:srgbClr val="292D33"/>
              </a:solidFill>
              <a:latin typeface="Lexend"/>
              <a:ea typeface="Lexend"/>
              <a:cs typeface="Lexend"/>
              <a:sym typeface="Lexend"/>
            </a:endParaRPr>
          </a:p>
        </p:txBody>
      </p:sp>
      <p:sp>
        <p:nvSpPr>
          <p:cNvPr id="203" name="Google Shape;203;g3494f8583c9_0_42"/>
          <p:cNvSpPr txBox="1"/>
          <p:nvPr/>
        </p:nvSpPr>
        <p:spPr>
          <a:xfrm>
            <a:off x="562100" y="2301184"/>
            <a:ext cx="8208600" cy="3324600"/>
          </a:xfrm>
          <a:prstGeom prst="rect">
            <a:avLst/>
          </a:prstGeom>
          <a:noFill/>
          <a:ln>
            <a:noFill/>
          </a:ln>
        </p:spPr>
        <p:txBody>
          <a:bodyPr anchorCtr="0" anchor="t" bIns="45700" lIns="91425" spcFirstLastPara="1" rIns="91425" wrap="square" tIns="45700">
            <a:spAutoFit/>
          </a:bodyPr>
          <a:lstStyle/>
          <a:p>
            <a:pPr indent="-361950" lvl="0" marL="457200" marR="0" rtl="0" algn="l">
              <a:lnSpc>
                <a:spcPct val="150000"/>
              </a:lnSpc>
              <a:spcBef>
                <a:spcPts val="0"/>
              </a:spcBef>
              <a:spcAft>
                <a:spcPts val="0"/>
              </a:spcAft>
              <a:buClr>
                <a:srgbClr val="5B636F"/>
              </a:buClr>
              <a:buSzPts val="2100"/>
              <a:buFont typeface="Poppins"/>
              <a:buChar char="●"/>
            </a:pPr>
            <a:r>
              <a:rPr lang="tr-TR" sz="2100">
                <a:solidFill>
                  <a:srgbClr val="5B636F"/>
                </a:solidFill>
                <a:latin typeface="Poppins"/>
                <a:ea typeface="Poppins"/>
                <a:cs typeface="Poppins"/>
                <a:sym typeface="Poppins"/>
              </a:rPr>
              <a:t>Upgraded to .NET 10.0 </a:t>
            </a:r>
            <a:r>
              <a:rPr lang="tr-TR" sz="2100">
                <a:solidFill>
                  <a:schemeClr val="hlink"/>
                </a:solidFill>
                <a:uFill>
                  <a:noFill/>
                </a:uFill>
                <a:latin typeface="Poppins"/>
                <a:ea typeface="Poppins"/>
                <a:cs typeface="Poppins"/>
                <a:sym typeface="Poppins"/>
                <a:hlinkClick r:id="rId4"/>
              </a:rPr>
              <a:t>(</a:t>
            </a:r>
            <a:r>
              <a:rPr lang="tr-TR" sz="2100" u="sng">
                <a:solidFill>
                  <a:schemeClr val="hlink"/>
                </a:solidFill>
                <a:latin typeface="Poppins"/>
                <a:ea typeface="Poppins"/>
                <a:cs typeface="Poppins"/>
                <a:sym typeface="Poppins"/>
                <a:hlinkClick r:id="rId5"/>
              </a:rPr>
              <a:t>Migrate from .NET 9 to .NET 10</a:t>
            </a:r>
            <a:r>
              <a:rPr lang="tr-TR" sz="2100">
                <a:solidFill>
                  <a:schemeClr val="hlink"/>
                </a:solidFill>
                <a:uFill>
                  <a:noFill/>
                </a:uFill>
                <a:latin typeface="Poppins"/>
                <a:ea typeface="Poppins"/>
                <a:cs typeface="Poppins"/>
                <a:sym typeface="Poppins"/>
                <a:hlinkClick r:id="rId6"/>
              </a:rPr>
              <a:t>)</a:t>
            </a:r>
            <a:endParaRPr sz="2100">
              <a:solidFill>
                <a:srgbClr val="5B636F"/>
              </a:solidFill>
              <a:latin typeface="Poppins"/>
              <a:ea typeface="Poppins"/>
              <a:cs typeface="Poppins"/>
              <a:sym typeface="Poppins"/>
            </a:endParaRPr>
          </a:p>
          <a:p>
            <a:pPr indent="-361950" lvl="0" marL="457200" marR="0" rtl="0" algn="l">
              <a:lnSpc>
                <a:spcPct val="150000"/>
              </a:lnSpc>
              <a:spcBef>
                <a:spcPts val="0"/>
              </a:spcBef>
              <a:spcAft>
                <a:spcPts val="0"/>
              </a:spcAft>
              <a:buClr>
                <a:srgbClr val="5B636F"/>
              </a:buClr>
              <a:buSzPts val="2100"/>
              <a:buFont typeface="Poppins"/>
              <a:buChar char="●"/>
            </a:pPr>
            <a:r>
              <a:rPr lang="tr-TR" sz="2100">
                <a:solidFill>
                  <a:srgbClr val="5B636F"/>
                </a:solidFill>
                <a:latin typeface="Poppins"/>
                <a:ea typeface="Poppins"/>
                <a:cs typeface="Poppins"/>
                <a:sym typeface="Poppins"/>
              </a:rPr>
              <a:t>Upgraded to OpenIddict 7.X</a:t>
            </a:r>
            <a:endParaRPr sz="2100">
              <a:solidFill>
                <a:srgbClr val="5B636F"/>
              </a:solidFill>
              <a:latin typeface="Poppins"/>
              <a:ea typeface="Poppins"/>
              <a:cs typeface="Poppins"/>
              <a:sym typeface="Poppins"/>
            </a:endParaRPr>
          </a:p>
          <a:p>
            <a:pPr indent="-361950" lvl="0" marL="457200" marR="0" rtl="0" algn="l">
              <a:lnSpc>
                <a:spcPct val="150000"/>
              </a:lnSpc>
              <a:spcBef>
                <a:spcPts val="0"/>
              </a:spcBef>
              <a:spcAft>
                <a:spcPts val="0"/>
              </a:spcAft>
              <a:buClr>
                <a:srgbClr val="5B636F"/>
              </a:buClr>
              <a:buSzPts val="2100"/>
              <a:buFont typeface="Poppins"/>
              <a:buChar char="●"/>
            </a:pPr>
            <a:r>
              <a:rPr lang="tr-TR" sz="2100" u="sng">
                <a:solidFill>
                  <a:schemeClr val="hlink"/>
                </a:solidFill>
                <a:latin typeface="Poppins"/>
                <a:ea typeface="Poppins"/>
                <a:cs typeface="Poppins"/>
                <a:sym typeface="Poppins"/>
                <a:hlinkClick r:id="rId7"/>
              </a:rPr>
              <a:t>Migrated from AutoMapper to Mapperly</a:t>
            </a:r>
            <a:endParaRPr sz="2100">
              <a:solidFill>
                <a:srgbClr val="5B636F"/>
              </a:solidFill>
              <a:latin typeface="Poppins"/>
              <a:ea typeface="Poppins"/>
              <a:cs typeface="Poppins"/>
              <a:sym typeface="Poppins"/>
            </a:endParaRPr>
          </a:p>
          <a:p>
            <a:pPr indent="-361950" lvl="0" marL="457200" marR="0" rtl="0" algn="l">
              <a:lnSpc>
                <a:spcPct val="150000"/>
              </a:lnSpc>
              <a:spcBef>
                <a:spcPts val="0"/>
              </a:spcBef>
              <a:spcAft>
                <a:spcPts val="0"/>
              </a:spcAft>
              <a:buClr>
                <a:srgbClr val="5B636F"/>
              </a:buClr>
              <a:buSzPts val="2100"/>
              <a:buFont typeface="Poppins"/>
              <a:buChar char="●"/>
            </a:pPr>
            <a:r>
              <a:rPr lang="tr-TR" sz="2100">
                <a:solidFill>
                  <a:srgbClr val="5B636F"/>
                </a:solidFill>
                <a:latin typeface="Poppins"/>
                <a:ea typeface="Poppins"/>
                <a:cs typeface="Poppins"/>
                <a:sym typeface="Poppins"/>
              </a:rPr>
              <a:t>Removed Obsolete Services (</a:t>
            </a:r>
            <a:r>
              <a:rPr lang="tr-TR" sz="2100">
                <a:solidFill>
                  <a:srgbClr val="E83090"/>
                </a:solidFill>
                <a:latin typeface="Poppins"/>
                <a:ea typeface="Poppins"/>
                <a:cs typeface="Poppins"/>
                <a:sym typeface="Poppins"/>
              </a:rPr>
              <a:t>RazorRuntimeCompilation</a:t>
            </a:r>
            <a:r>
              <a:rPr lang="tr-TR" sz="2100">
                <a:solidFill>
                  <a:srgbClr val="5B636F"/>
                </a:solidFill>
                <a:latin typeface="Poppins"/>
                <a:ea typeface="Poppins"/>
                <a:cs typeface="Poppins"/>
                <a:sym typeface="Poppins"/>
              </a:rPr>
              <a:t> and </a:t>
            </a:r>
            <a:r>
              <a:rPr lang="tr-TR" sz="2100">
                <a:solidFill>
                  <a:srgbClr val="E83090"/>
                </a:solidFill>
                <a:latin typeface="Poppins"/>
                <a:ea typeface="Poppins"/>
                <a:cs typeface="Poppins"/>
                <a:sym typeface="Poppins"/>
              </a:rPr>
              <a:t>IActionContextAccessor</a:t>
            </a:r>
            <a:r>
              <a:rPr lang="tr-TR" sz="2100">
                <a:solidFill>
                  <a:srgbClr val="5B636F"/>
                </a:solidFill>
                <a:latin typeface="Poppins"/>
                <a:ea typeface="Poppins"/>
                <a:cs typeface="Poppins"/>
                <a:sym typeface="Poppins"/>
              </a:rPr>
              <a:t>)</a:t>
            </a:r>
            <a:endParaRPr sz="2100">
              <a:solidFill>
                <a:srgbClr val="5B636F"/>
              </a:solidFill>
              <a:latin typeface="Poppins"/>
              <a:ea typeface="Poppins"/>
              <a:cs typeface="Poppins"/>
              <a:sym typeface="Poppins"/>
            </a:endParaRPr>
          </a:p>
          <a:p>
            <a:pPr indent="-361950" lvl="0" marL="457200" marR="0" rtl="0" algn="l">
              <a:lnSpc>
                <a:spcPct val="150000"/>
              </a:lnSpc>
              <a:spcBef>
                <a:spcPts val="0"/>
              </a:spcBef>
              <a:spcAft>
                <a:spcPts val="0"/>
              </a:spcAft>
              <a:buClr>
                <a:srgbClr val="5B636F"/>
              </a:buClr>
              <a:buSzPts val="2100"/>
              <a:buFont typeface="Poppins"/>
              <a:buChar char="●"/>
            </a:pPr>
            <a:r>
              <a:rPr lang="tr-TR" sz="2100">
                <a:solidFill>
                  <a:srgbClr val="5B636F"/>
                </a:solidFill>
                <a:latin typeface="Poppins"/>
                <a:ea typeface="Poppins"/>
                <a:cs typeface="Poppins"/>
                <a:sym typeface="Poppins"/>
              </a:rPr>
              <a:t>Added BLOB Storing Memory Provider (for testing purposes)</a:t>
            </a:r>
            <a:endParaRPr sz="2100">
              <a:solidFill>
                <a:srgbClr val="5B636F"/>
              </a:solidFill>
              <a:latin typeface="Poppins"/>
              <a:ea typeface="Poppins"/>
              <a:cs typeface="Poppins"/>
              <a:sym typeface="Poppins"/>
            </a:endParaRPr>
          </a:p>
        </p:txBody>
      </p:sp>
      <p:pic>
        <p:nvPicPr>
          <p:cNvPr id="204" name="Google Shape;204;g3494f8583c9_0_42"/>
          <p:cNvPicPr preferRelativeResize="0"/>
          <p:nvPr/>
        </p:nvPicPr>
        <p:blipFill rotWithShape="1">
          <a:blip r:embed="rId8">
            <a:alphaModFix/>
          </a:blip>
          <a:srcRect b="0" l="0" r="0" t="0"/>
          <a:stretch/>
        </p:blipFill>
        <p:spPr>
          <a:xfrm>
            <a:off x="8770695" y="3468458"/>
            <a:ext cx="2957703" cy="2957703"/>
          </a:xfrm>
          <a:prstGeom prst="rect">
            <a:avLst/>
          </a:prstGeom>
          <a:noFill/>
          <a:ln>
            <a:noFill/>
          </a:ln>
        </p:spPr>
      </p:pic>
      <p:sp>
        <p:nvSpPr>
          <p:cNvPr id="205" name="Google Shape;205;g3494f8583c9_0_42"/>
          <p:cNvSpPr txBox="1"/>
          <p:nvPr/>
        </p:nvSpPr>
        <p:spPr>
          <a:xfrm>
            <a:off x="8770550" y="2994175"/>
            <a:ext cx="2957700" cy="3540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700"/>
              <a:buFont typeface="Arial"/>
              <a:buNone/>
            </a:pPr>
            <a:r>
              <a:rPr b="0" i="0" lang="tr-TR" sz="1700" u="none" cap="none" strike="noStrike">
                <a:solidFill>
                  <a:srgbClr val="5B636F"/>
                </a:solidFill>
                <a:latin typeface="Poppins"/>
                <a:ea typeface="Poppins"/>
                <a:cs typeface="Poppins"/>
                <a:sym typeface="Poppins"/>
              </a:rPr>
              <a:t>Read the migration guide</a:t>
            </a:r>
            <a:endParaRPr b="0" i="0" sz="2000" u="none" cap="none" strike="noStrike">
              <a:solidFill>
                <a:srgbClr val="5B636F"/>
              </a:solidFill>
              <a:latin typeface="Poppins"/>
              <a:ea typeface="Poppins"/>
              <a:cs typeface="Poppins"/>
              <a:sym typeface="Poppins"/>
            </a:endParaRPr>
          </a:p>
        </p:txBody>
      </p:sp>
      <p:pic>
        <p:nvPicPr>
          <p:cNvPr id="206" name="Google Shape;206;g3494f8583c9_0_42" title="Untitled design (1).png"/>
          <p:cNvPicPr preferRelativeResize="0"/>
          <p:nvPr/>
        </p:nvPicPr>
        <p:blipFill>
          <a:blip r:embed="rId9">
            <a:alphaModFix/>
          </a:blip>
          <a:stretch>
            <a:fillRect/>
          </a:stretch>
        </p:blipFill>
        <p:spPr>
          <a:xfrm>
            <a:off x="8956587" y="3654487"/>
            <a:ext cx="2585625" cy="2585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0" name="Shape 210"/>
        <p:cNvGrpSpPr/>
        <p:nvPr/>
      </p:nvGrpSpPr>
      <p:grpSpPr>
        <a:xfrm>
          <a:off x="0" y="0"/>
          <a:ext cx="0" cy="0"/>
          <a:chOff x="0" y="0"/>
          <a:chExt cx="0" cy="0"/>
        </a:xfrm>
      </p:grpSpPr>
      <p:sp>
        <p:nvSpPr>
          <p:cNvPr id="211" name="Google Shape;211;g34973623901_0_12"/>
          <p:cNvSpPr txBox="1"/>
          <p:nvPr/>
        </p:nvSpPr>
        <p:spPr>
          <a:xfrm>
            <a:off x="714375" y="619125"/>
            <a:ext cx="9548700" cy="6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tr-TR" sz="3400" u="none" cap="none" strike="noStrike">
                <a:solidFill>
                  <a:srgbClr val="292D33"/>
                </a:solidFill>
                <a:latin typeface="Lexend"/>
                <a:ea typeface="Lexend"/>
                <a:cs typeface="Lexend"/>
                <a:sym typeface="Lexend"/>
              </a:rPr>
              <a:t>Community News</a:t>
            </a:r>
            <a:endParaRPr b="1" i="0" sz="3400" u="none" cap="none" strike="noStrike">
              <a:solidFill>
                <a:srgbClr val="292D33"/>
              </a:solidFill>
              <a:latin typeface="Lexend"/>
              <a:ea typeface="Lexend"/>
              <a:cs typeface="Lexend"/>
              <a:sym typeface="Lexend"/>
            </a:endParaRPr>
          </a:p>
        </p:txBody>
      </p:sp>
      <p:sp>
        <p:nvSpPr>
          <p:cNvPr id="212" name="Google Shape;212;g34973623901_0_12"/>
          <p:cNvSpPr txBox="1"/>
          <p:nvPr/>
        </p:nvSpPr>
        <p:spPr>
          <a:xfrm>
            <a:off x="714375" y="1535700"/>
            <a:ext cx="10771200" cy="2124000"/>
          </a:xfrm>
          <a:prstGeom prst="rect">
            <a:avLst/>
          </a:prstGeom>
          <a:noFill/>
          <a:ln>
            <a:noFill/>
          </a:ln>
        </p:spPr>
        <p:txBody>
          <a:bodyPr anchorCtr="0" anchor="t" bIns="45700" lIns="91425" spcFirstLastPara="1" rIns="91425" wrap="square" tIns="45700">
            <a:spAutoFit/>
          </a:bodyPr>
          <a:lstStyle/>
          <a:p>
            <a:pPr indent="-381000" lvl="0" marL="457200" marR="0" rtl="0" algn="l">
              <a:lnSpc>
                <a:spcPct val="150000"/>
              </a:lnSpc>
              <a:spcBef>
                <a:spcPts val="0"/>
              </a:spcBef>
              <a:spcAft>
                <a:spcPts val="0"/>
              </a:spcAft>
              <a:buClr>
                <a:srgbClr val="5B636F"/>
              </a:buClr>
              <a:buSzPts val="2400"/>
              <a:buFont typeface="Poppins"/>
              <a:buChar char="●"/>
            </a:pPr>
            <a:r>
              <a:rPr b="1" i="0" lang="tr-TR" sz="2400" u="none" cap="none" strike="noStrike">
                <a:solidFill>
                  <a:srgbClr val="5B636F"/>
                </a:solidFill>
                <a:latin typeface="Poppins"/>
                <a:ea typeface="Poppins"/>
                <a:cs typeface="Poppins"/>
                <a:sym typeface="Poppins"/>
              </a:rPr>
              <a:t>Community Posts</a:t>
            </a:r>
            <a:r>
              <a:rPr b="0" i="0" lang="tr-TR" sz="2400" u="none" cap="none" strike="noStrike">
                <a:solidFill>
                  <a:srgbClr val="5B636F"/>
                </a:solidFill>
                <a:latin typeface="Poppins"/>
                <a:ea typeface="Poppins"/>
                <a:cs typeface="Poppins"/>
                <a:sym typeface="Poppins"/>
              </a:rPr>
              <a:t> (</a:t>
            </a:r>
            <a:r>
              <a:rPr lang="tr-TR" sz="2400">
                <a:solidFill>
                  <a:srgbClr val="5B636F"/>
                </a:solidFill>
                <a:latin typeface="Poppins"/>
                <a:ea typeface="Poppins"/>
                <a:cs typeface="Poppins"/>
                <a:sym typeface="Poppins"/>
              </a:rPr>
              <a:t>2</a:t>
            </a:r>
            <a:r>
              <a:rPr b="0" i="0" lang="tr-TR" sz="2400" u="none" cap="none" strike="noStrike">
                <a:solidFill>
                  <a:srgbClr val="5B636F"/>
                </a:solidFill>
                <a:latin typeface="Poppins"/>
                <a:ea typeface="Poppins"/>
                <a:cs typeface="Poppins"/>
                <a:sym typeface="Poppins"/>
              </a:rPr>
              <a:t>0+ articles &amp; videos)</a:t>
            </a:r>
            <a:endParaRPr b="0" i="0" sz="2400" u="none" cap="none" strike="noStrike">
              <a:solidFill>
                <a:srgbClr val="5B636F"/>
              </a:solidFill>
              <a:latin typeface="Poppins"/>
              <a:ea typeface="Poppins"/>
              <a:cs typeface="Poppins"/>
              <a:sym typeface="Poppins"/>
            </a:endParaRPr>
          </a:p>
          <a:p>
            <a:pPr indent="-381000" lvl="0" marL="457200" marR="0" rtl="0" algn="l">
              <a:lnSpc>
                <a:spcPct val="150000"/>
              </a:lnSpc>
              <a:spcBef>
                <a:spcPts val="0"/>
              </a:spcBef>
              <a:spcAft>
                <a:spcPts val="0"/>
              </a:spcAft>
              <a:buClr>
                <a:srgbClr val="5B636F"/>
              </a:buClr>
              <a:buSzPts val="2400"/>
              <a:buFont typeface="Poppins"/>
              <a:buChar char="●"/>
            </a:pPr>
            <a:r>
              <a:rPr b="1" lang="tr-TR" sz="2400">
                <a:solidFill>
                  <a:srgbClr val="5B636F"/>
                </a:solidFill>
                <a:latin typeface="Poppins"/>
                <a:ea typeface="Poppins"/>
                <a:cs typeface="Poppins"/>
                <a:sym typeface="Poppins"/>
              </a:rPr>
              <a:t>Announcements</a:t>
            </a:r>
            <a:r>
              <a:rPr b="0" i="0" lang="tr-TR" sz="2400" u="none" cap="none" strike="noStrike">
                <a:solidFill>
                  <a:srgbClr val="5B636F"/>
                </a:solidFill>
                <a:latin typeface="Poppins"/>
                <a:ea typeface="Poppins"/>
                <a:cs typeface="Poppins"/>
                <a:sym typeface="Poppins"/>
              </a:rPr>
              <a:t> </a:t>
            </a:r>
            <a:endParaRPr b="0" i="0" sz="2400" u="none" cap="none" strike="noStrike">
              <a:solidFill>
                <a:srgbClr val="5B636F"/>
              </a:solidFill>
              <a:latin typeface="Poppins"/>
              <a:ea typeface="Poppins"/>
              <a:cs typeface="Poppins"/>
              <a:sym typeface="Poppins"/>
            </a:endParaRPr>
          </a:p>
          <a:p>
            <a:pPr indent="-381000" lvl="1" marL="914400" marR="0" rtl="0" algn="l">
              <a:lnSpc>
                <a:spcPct val="150000"/>
              </a:lnSpc>
              <a:spcBef>
                <a:spcPts val="0"/>
              </a:spcBef>
              <a:spcAft>
                <a:spcPts val="0"/>
              </a:spcAft>
              <a:buClr>
                <a:srgbClr val="5B636F"/>
              </a:buClr>
              <a:buSzPts val="2400"/>
              <a:buFont typeface="Poppins"/>
              <a:buChar char="○"/>
            </a:pPr>
            <a:r>
              <a:rPr lang="tr-TR" sz="2400">
                <a:solidFill>
                  <a:srgbClr val="5B636F"/>
                </a:solidFill>
                <a:latin typeface="Poppins"/>
                <a:ea typeface="Poppins"/>
                <a:cs typeface="Poppins"/>
                <a:sym typeface="Poppins"/>
              </a:rPr>
              <a:t>Sponsored to .NET Conf 2025!</a:t>
            </a:r>
            <a:endParaRPr b="0" i="0" sz="2400" u="none" cap="none" strike="noStrike">
              <a:solidFill>
                <a:srgbClr val="5B636F"/>
              </a:solidFill>
              <a:latin typeface="Poppins"/>
              <a:ea typeface="Poppins"/>
              <a:cs typeface="Poppins"/>
              <a:sym typeface="Poppins"/>
            </a:endParaRPr>
          </a:p>
          <a:p>
            <a:pPr indent="-381000" lvl="1" marL="914400" marR="0" rtl="0" algn="l">
              <a:lnSpc>
                <a:spcPct val="150000"/>
              </a:lnSpc>
              <a:spcBef>
                <a:spcPts val="0"/>
              </a:spcBef>
              <a:spcAft>
                <a:spcPts val="0"/>
              </a:spcAft>
              <a:buClr>
                <a:srgbClr val="5B636F"/>
              </a:buClr>
              <a:buSzPts val="2400"/>
              <a:buFont typeface="Poppins"/>
              <a:buChar char="○"/>
            </a:pPr>
            <a:r>
              <a:rPr lang="tr-TR" sz="2400">
                <a:solidFill>
                  <a:srgbClr val="5B636F"/>
                </a:solidFill>
                <a:latin typeface="Poppins"/>
                <a:ea typeface="Poppins"/>
                <a:cs typeface="Poppins"/>
                <a:sym typeface="Poppins"/>
              </a:rPr>
              <a:t>Weekly Webinar: Discover ABP Platform</a:t>
            </a:r>
            <a:endParaRPr b="0" i="0" sz="2400" u="none" cap="none" strike="noStrike">
              <a:solidFill>
                <a:srgbClr val="5B636F"/>
              </a:solidFill>
              <a:latin typeface="Poppins"/>
              <a:ea typeface="Poppins"/>
              <a:cs typeface="Poppins"/>
              <a:sym typeface="Poppi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6" name="Shape 216"/>
        <p:cNvGrpSpPr/>
        <p:nvPr/>
      </p:nvGrpSpPr>
      <p:grpSpPr>
        <a:xfrm>
          <a:off x="0" y="0"/>
          <a:ext cx="0" cy="0"/>
          <a:chOff x="0" y="0"/>
          <a:chExt cx="0" cy="0"/>
        </a:xfrm>
      </p:grpSpPr>
      <p:pic>
        <p:nvPicPr>
          <p:cNvPr id="217" name="Google Shape;217;g34973623901_0_20"/>
          <p:cNvPicPr preferRelativeResize="0"/>
          <p:nvPr/>
        </p:nvPicPr>
        <p:blipFill>
          <a:blip r:embed="rId4">
            <a:alphaModFix amt="32000"/>
          </a:blip>
          <a:stretch>
            <a:fillRect/>
          </a:stretch>
        </p:blipFill>
        <p:spPr>
          <a:xfrm>
            <a:off x="884362" y="405850"/>
            <a:ext cx="10423276" cy="6046299"/>
          </a:xfrm>
          <a:prstGeom prst="rect">
            <a:avLst/>
          </a:prstGeom>
          <a:noFill/>
          <a:ln>
            <a:noFill/>
          </a:ln>
        </p:spPr>
      </p:pic>
      <p:sp>
        <p:nvSpPr>
          <p:cNvPr id="218" name="Google Shape;218;g34973623901_0_20"/>
          <p:cNvSpPr/>
          <p:nvPr/>
        </p:nvSpPr>
        <p:spPr>
          <a:xfrm>
            <a:off x="10202625" y="5910425"/>
            <a:ext cx="1579200" cy="681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chemeClr val="lt1"/>
              </a:highlight>
            </a:endParaRPr>
          </a:p>
        </p:txBody>
      </p:sp>
      <p:sp>
        <p:nvSpPr>
          <p:cNvPr id="219" name="Google Shape;219;g34973623901_0_20"/>
          <p:cNvSpPr txBox="1"/>
          <p:nvPr/>
        </p:nvSpPr>
        <p:spPr>
          <a:xfrm>
            <a:off x="4504200" y="3137450"/>
            <a:ext cx="3183600" cy="8697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0"/>
              </a:spcAft>
              <a:buClr>
                <a:srgbClr val="000000"/>
              </a:buClr>
              <a:buSzPts val="1800"/>
              <a:buFont typeface="Arial"/>
              <a:buNone/>
            </a:pPr>
            <a:r>
              <a:rPr b="1" i="0" lang="tr-TR" sz="1900" u="none" cap="none" strike="noStrike">
                <a:solidFill>
                  <a:srgbClr val="5B636F"/>
                </a:solidFill>
                <a:latin typeface="Poppins"/>
                <a:ea typeface="Poppins"/>
                <a:cs typeface="Poppins"/>
                <a:sym typeface="Poppins"/>
              </a:rPr>
              <a:t>(</a:t>
            </a:r>
            <a:r>
              <a:rPr b="1" lang="tr-TR" sz="1900">
                <a:solidFill>
                  <a:srgbClr val="5B636F"/>
                </a:solidFill>
                <a:latin typeface="Poppins"/>
                <a:ea typeface="Poppins"/>
                <a:cs typeface="Poppins"/>
                <a:sym typeface="Poppins"/>
              </a:rPr>
              <a:t>2</a:t>
            </a:r>
            <a:r>
              <a:rPr b="1" i="0" lang="tr-TR" sz="1900" u="none" cap="none" strike="noStrike">
                <a:solidFill>
                  <a:srgbClr val="5B636F"/>
                </a:solidFill>
                <a:latin typeface="Poppins"/>
                <a:ea typeface="Poppins"/>
                <a:cs typeface="Poppins"/>
                <a:sym typeface="Poppins"/>
              </a:rPr>
              <a:t>0+ articles &amp; videos)</a:t>
            </a:r>
            <a:br>
              <a:rPr b="1" i="0" lang="tr-TR" sz="1900" u="none" cap="none" strike="noStrike">
                <a:solidFill>
                  <a:srgbClr val="5B636F"/>
                </a:solidFill>
                <a:latin typeface="Poppins"/>
                <a:ea typeface="Poppins"/>
                <a:cs typeface="Poppins"/>
                <a:sym typeface="Poppins"/>
              </a:rPr>
            </a:br>
            <a:r>
              <a:rPr b="1" i="0" lang="tr-TR" sz="1600" u="sng" cap="none" strike="noStrike">
                <a:solidFill>
                  <a:schemeClr val="hlink"/>
                </a:solidFill>
                <a:latin typeface="Poppins"/>
                <a:ea typeface="Poppins"/>
                <a:cs typeface="Poppins"/>
                <a:sym typeface="Poppins"/>
                <a:hlinkClick r:id="rId5"/>
              </a:rPr>
              <a:t>https://abp.io/community/</a:t>
            </a:r>
            <a:endParaRPr b="0" i="0" sz="1700" u="none" cap="none" strike="noStrike">
              <a:solidFill>
                <a:srgbClr val="5B636F"/>
              </a:solidFill>
              <a:latin typeface="Poppins"/>
              <a:ea typeface="Poppins"/>
              <a:cs typeface="Poppins"/>
              <a:sym typeface="Poppins"/>
            </a:endParaRPr>
          </a:p>
        </p:txBody>
      </p:sp>
      <p:sp>
        <p:nvSpPr>
          <p:cNvPr id="220" name="Google Shape;220;g34973623901_0_20"/>
          <p:cNvSpPr txBox="1"/>
          <p:nvPr/>
        </p:nvSpPr>
        <p:spPr>
          <a:xfrm>
            <a:off x="4079850" y="2629538"/>
            <a:ext cx="4032300" cy="507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tr-TR" sz="2700" u="none" cap="none" strike="noStrike">
                <a:solidFill>
                  <a:srgbClr val="292D33"/>
                </a:solidFill>
                <a:latin typeface="Lexend"/>
                <a:ea typeface="Lexend"/>
                <a:cs typeface="Lexend"/>
                <a:sym typeface="Lexend"/>
              </a:rPr>
              <a:t>Community Posts</a:t>
            </a:r>
            <a:endParaRPr b="1" i="0" sz="2700" u="none" cap="none" strike="noStrike">
              <a:solidFill>
                <a:srgbClr val="292D33"/>
              </a:solidFill>
              <a:latin typeface="Lexend"/>
              <a:ea typeface="Lexend"/>
              <a:cs typeface="Lexend"/>
              <a:sym typeface="Lexen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4" name="Shape 224"/>
        <p:cNvGrpSpPr/>
        <p:nvPr/>
      </p:nvGrpSpPr>
      <p:grpSpPr>
        <a:xfrm>
          <a:off x="0" y="0"/>
          <a:ext cx="0" cy="0"/>
          <a:chOff x="0" y="0"/>
          <a:chExt cx="0" cy="0"/>
        </a:xfrm>
      </p:grpSpPr>
      <p:sp>
        <p:nvSpPr>
          <p:cNvPr id="225" name="Google Shape;225;g36a76edf6e9_0_52"/>
          <p:cNvSpPr txBox="1"/>
          <p:nvPr/>
        </p:nvSpPr>
        <p:spPr>
          <a:xfrm>
            <a:off x="185850" y="554225"/>
            <a:ext cx="11820300" cy="569400"/>
          </a:xfrm>
          <a:prstGeom prst="rect">
            <a:avLst/>
          </a:prstGeom>
          <a:noFill/>
          <a:ln>
            <a:noFill/>
          </a:ln>
        </p:spPr>
        <p:txBody>
          <a:bodyPr anchorCtr="0" anchor="t" bIns="45700" lIns="91425" spcFirstLastPara="1" rIns="91425" wrap="square" tIns="45700">
            <a:spAutoFit/>
          </a:bodyPr>
          <a:lstStyle/>
          <a:p>
            <a:pPr indent="457200" lvl="0" marL="0" marR="0" rtl="0" algn="l">
              <a:lnSpc>
                <a:spcPct val="100000"/>
              </a:lnSpc>
              <a:spcBef>
                <a:spcPts val="0"/>
              </a:spcBef>
              <a:spcAft>
                <a:spcPts val="0"/>
              </a:spcAft>
              <a:buClr>
                <a:srgbClr val="000000"/>
              </a:buClr>
              <a:buSzPts val="3200"/>
              <a:buFont typeface="Arial"/>
              <a:buNone/>
            </a:pPr>
            <a:r>
              <a:rPr b="1" lang="tr-TR" sz="3100">
                <a:solidFill>
                  <a:srgbClr val="292D33"/>
                </a:solidFill>
                <a:latin typeface="Lexend"/>
                <a:ea typeface="Lexend"/>
                <a:cs typeface="Lexend"/>
                <a:sym typeface="Lexend"/>
              </a:rPr>
              <a:t>Sponsored to .NET Conf 2025!</a:t>
            </a:r>
            <a:endParaRPr b="1" i="0" sz="3100" u="none" cap="none" strike="noStrike">
              <a:solidFill>
                <a:srgbClr val="292D33"/>
              </a:solidFill>
              <a:latin typeface="Lexend"/>
              <a:ea typeface="Lexend"/>
              <a:cs typeface="Lexend"/>
              <a:sym typeface="Lexend"/>
            </a:endParaRPr>
          </a:p>
        </p:txBody>
      </p:sp>
      <p:pic>
        <p:nvPicPr>
          <p:cNvPr id="226" name="Google Shape;226;g36a76edf6e9_0_52" title="dotnet-sponsor.png"/>
          <p:cNvPicPr preferRelativeResize="0"/>
          <p:nvPr/>
        </p:nvPicPr>
        <p:blipFill>
          <a:blip r:embed="rId4">
            <a:alphaModFix/>
          </a:blip>
          <a:stretch>
            <a:fillRect/>
          </a:stretch>
        </p:blipFill>
        <p:spPr>
          <a:xfrm>
            <a:off x="728600" y="1330100"/>
            <a:ext cx="9107226" cy="500220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0" name="Shape 230"/>
        <p:cNvGrpSpPr/>
        <p:nvPr/>
      </p:nvGrpSpPr>
      <p:grpSpPr>
        <a:xfrm>
          <a:off x="0" y="0"/>
          <a:ext cx="0" cy="0"/>
          <a:chOff x="0" y="0"/>
          <a:chExt cx="0" cy="0"/>
        </a:xfrm>
      </p:grpSpPr>
      <p:sp>
        <p:nvSpPr>
          <p:cNvPr id="231" name="Google Shape;231;g34973623901_0_43"/>
          <p:cNvSpPr txBox="1"/>
          <p:nvPr/>
        </p:nvSpPr>
        <p:spPr>
          <a:xfrm>
            <a:off x="186375" y="619125"/>
            <a:ext cx="11820300" cy="615600"/>
          </a:xfrm>
          <a:prstGeom prst="rect">
            <a:avLst/>
          </a:prstGeom>
          <a:noFill/>
          <a:ln>
            <a:noFill/>
          </a:ln>
        </p:spPr>
        <p:txBody>
          <a:bodyPr anchorCtr="0" anchor="t" bIns="45700" lIns="91425" spcFirstLastPara="1" rIns="91425" wrap="square" tIns="45700">
            <a:spAutoFit/>
          </a:bodyPr>
          <a:lstStyle/>
          <a:p>
            <a:pPr indent="457200" lvl="0" marL="0" marR="0" rtl="0" algn="l">
              <a:lnSpc>
                <a:spcPct val="100000"/>
              </a:lnSpc>
              <a:spcBef>
                <a:spcPts val="0"/>
              </a:spcBef>
              <a:spcAft>
                <a:spcPts val="0"/>
              </a:spcAft>
              <a:buClr>
                <a:srgbClr val="000000"/>
              </a:buClr>
              <a:buSzPts val="3200"/>
              <a:buFont typeface="Arial"/>
              <a:buNone/>
            </a:pPr>
            <a:r>
              <a:rPr b="1" lang="tr-TR" sz="3400">
                <a:solidFill>
                  <a:srgbClr val="292D33"/>
                </a:solidFill>
                <a:latin typeface="Lexend"/>
                <a:ea typeface="Lexend"/>
                <a:cs typeface="Lexend"/>
                <a:sym typeface="Lexend"/>
              </a:rPr>
              <a:t>Weekly Webinar: Discover ABP Platform</a:t>
            </a:r>
            <a:endParaRPr b="1" i="0" sz="3400" u="none" cap="none" strike="noStrike">
              <a:solidFill>
                <a:srgbClr val="292D33"/>
              </a:solidFill>
              <a:latin typeface="Lexend"/>
              <a:ea typeface="Lexend"/>
              <a:cs typeface="Lexend"/>
              <a:sym typeface="Lexend"/>
            </a:endParaRPr>
          </a:p>
        </p:txBody>
      </p:sp>
      <p:pic>
        <p:nvPicPr>
          <p:cNvPr id="232" name="Google Shape;232;g34973623901_0_43"/>
          <p:cNvPicPr preferRelativeResize="0"/>
          <p:nvPr/>
        </p:nvPicPr>
        <p:blipFill rotWithShape="1">
          <a:blip r:embed="rId4">
            <a:alphaModFix/>
          </a:blip>
          <a:srcRect b="0" l="0" r="0" t="0"/>
          <a:stretch/>
        </p:blipFill>
        <p:spPr>
          <a:xfrm>
            <a:off x="9412495" y="4001371"/>
            <a:ext cx="2437200" cy="2437200"/>
          </a:xfrm>
          <a:prstGeom prst="rect">
            <a:avLst/>
          </a:prstGeom>
          <a:noFill/>
          <a:ln>
            <a:noFill/>
          </a:ln>
        </p:spPr>
      </p:pic>
      <p:sp>
        <p:nvSpPr>
          <p:cNvPr id="233" name="Google Shape;233;g34973623901_0_43"/>
          <p:cNvSpPr txBox="1"/>
          <p:nvPr/>
        </p:nvSpPr>
        <p:spPr>
          <a:xfrm>
            <a:off x="9461700" y="3611400"/>
            <a:ext cx="2338800" cy="3540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700"/>
              <a:buFont typeface="Arial"/>
              <a:buNone/>
            </a:pPr>
            <a:r>
              <a:rPr lang="tr-TR" sz="1700">
                <a:solidFill>
                  <a:srgbClr val="5B636F"/>
                </a:solidFill>
                <a:latin typeface="Poppins"/>
                <a:ea typeface="Poppins"/>
                <a:cs typeface="Poppins"/>
                <a:sym typeface="Poppins"/>
              </a:rPr>
              <a:t>For free registration:</a:t>
            </a:r>
            <a:endParaRPr b="0" i="0" sz="2000" u="none" cap="none" strike="noStrike">
              <a:solidFill>
                <a:srgbClr val="5B636F"/>
              </a:solidFill>
              <a:latin typeface="Poppins"/>
              <a:ea typeface="Poppins"/>
              <a:cs typeface="Poppins"/>
              <a:sym typeface="Poppins"/>
            </a:endParaRPr>
          </a:p>
        </p:txBody>
      </p:sp>
      <p:pic>
        <p:nvPicPr>
          <p:cNvPr id="234" name="Google Shape;234;g34973623901_0_43"/>
          <p:cNvPicPr preferRelativeResize="0"/>
          <p:nvPr/>
        </p:nvPicPr>
        <p:blipFill>
          <a:blip r:embed="rId5">
            <a:alphaModFix/>
          </a:blip>
          <a:stretch>
            <a:fillRect/>
          </a:stretch>
        </p:blipFill>
        <p:spPr>
          <a:xfrm>
            <a:off x="710400" y="1590700"/>
            <a:ext cx="7398989" cy="4713775"/>
          </a:xfrm>
          <a:prstGeom prst="rect">
            <a:avLst/>
          </a:prstGeom>
          <a:noFill/>
          <a:ln>
            <a:noFill/>
          </a:ln>
        </p:spPr>
      </p:pic>
      <p:pic>
        <p:nvPicPr>
          <p:cNvPr id="235" name="Google Shape;235;g34973623901_0_43" title="Untitled design (2).png"/>
          <p:cNvPicPr preferRelativeResize="0"/>
          <p:nvPr/>
        </p:nvPicPr>
        <p:blipFill>
          <a:blip r:embed="rId6">
            <a:alphaModFix/>
          </a:blip>
          <a:stretch>
            <a:fillRect/>
          </a:stretch>
        </p:blipFill>
        <p:spPr>
          <a:xfrm>
            <a:off x="9546615" y="4135488"/>
            <a:ext cx="2168975" cy="21689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9" name="Shape 239"/>
        <p:cNvGrpSpPr/>
        <p:nvPr/>
      </p:nvGrpSpPr>
      <p:grpSpPr>
        <a:xfrm>
          <a:off x="0" y="0"/>
          <a:ext cx="0" cy="0"/>
          <a:chOff x="0" y="0"/>
          <a:chExt cx="0" cy="0"/>
        </a:xfrm>
      </p:grpSpPr>
      <p:sp>
        <p:nvSpPr>
          <p:cNvPr id="240" name="Google Shape;240;p3"/>
          <p:cNvSpPr txBox="1"/>
          <p:nvPr/>
        </p:nvSpPr>
        <p:spPr>
          <a:xfrm>
            <a:off x="0" y="0"/>
            <a:ext cx="12192000" cy="6858000"/>
          </a:xfrm>
          <a:prstGeom prst="rect">
            <a:avLst/>
          </a:prstGeom>
          <a:no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292D32"/>
              </a:buClr>
              <a:buSzPts val="4500"/>
              <a:buFont typeface="Lexend"/>
              <a:buNone/>
            </a:pPr>
            <a:r>
              <a:rPr b="1" i="0" lang="tr-TR" sz="4500" u="none" cap="none" strike="noStrike">
                <a:solidFill>
                  <a:srgbClr val="292D32"/>
                </a:solidFill>
                <a:latin typeface="Lexend"/>
                <a:ea typeface="Lexend"/>
                <a:cs typeface="Lexend"/>
                <a:sym typeface="Lexend"/>
              </a:rPr>
              <a:t>Thanks for listening!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eması">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eması">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2024-10-07T11:11:00Z</dcterms:created>
  <dc:creator>Volosoft Bilisim</dc:creator>
</cp:coreProperties>
</file>