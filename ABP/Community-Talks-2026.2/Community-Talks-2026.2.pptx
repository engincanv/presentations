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Poppins Medium"/>
      <p:regular r:id="rId22"/>
      <p:bold r:id="rId23"/>
      <p:italic r:id="rId24"/>
      <p:boldItalic r:id="rId25"/>
    </p:embeddedFont>
    <p:embeddedFont>
      <p:font typeface="Lexe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PoppinsMedium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PoppinsMedium-italic.fntdata"/><Relationship Id="rId23" Type="http://schemas.openxmlformats.org/officeDocument/2006/relationships/font" Target="fonts/Poppins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exend-regular.fntdata"/><Relationship Id="rId25" Type="http://schemas.openxmlformats.org/officeDocument/2006/relationships/font" Target="fonts/PoppinsMedium-boldItalic.fntdata"/><Relationship Id="rId27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tr-T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odelcontextprotocol.io/docs/getting-started/intro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odelcontextprotocol.io/docs/getting-started/intro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odelcontextprotocol.io/docs/getting-started/intro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nythingllm.com/" TargetMode="External"/><Relationship Id="rId3" Type="http://schemas.openxmlformats.org/officeDocument/2006/relationships/hyperlink" Target="https://openwebui.com/" TargetMode="External"/><Relationship Id="rId4" Type="http://schemas.openxmlformats.org/officeDocument/2006/relationships/hyperlink" Target="https://dify.ai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f4fc1dfdf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af4fc1dfdf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f59958f75_1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u="sng">
                <a:solidFill>
                  <a:schemeClr val="hlink"/>
                </a:solidFill>
                <a:hlinkClick r:id="rId2"/>
              </a:rPr>
              <a:t>https://modelcontextprotocol.io/docs/getting-started/intro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af59958f75_1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1bc28d31f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u="sng">
                <a:solidFill>
                  <a:schemeClr val="hlink"/>
                </a:solidFill>
                <a:hlinkClick r:id="rId2"/>
              </a:rPr>
              <a:t>https://modelcontextprotocol.io/docs/getting-started/intro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1bc28d31f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1bc28d31f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u="sng">
                <a:solidFill>
                  <a:schemeClr val="hlink"/>
                </a:solidFill>
                <a:hlinkClick r:id="rId2"/>
              </a:rPr>
              <a:t>https://modelcontextprotocol.io/docs/getting-started/intro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1bc28d31f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1bc28d31f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1bc28d31f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f4fc1dfdf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af4fc1dfdf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1bc28d31f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50">
                <a:solidFill>
                  <a:srgbClr val="949FAE"/>
                </a:solidFill>
                <a:highlight>
                  <a:srgbClr val="232730"/>
                </a:highlight>
                <a:latin typeface="Poppins"/>
                <a:ea typeface="Poppins"/>
                <a:cs typeface="Poppins"/>
                <a:sym typeface="Poppins"/>
              </a:rPr>
              <a:t>The AI Management module exposes an </a:t>
            </a:r>
            <a:r>
              <a:rPr lang="tr-TR" sz="1050">
                <a:solidFill>
                  <a:srgbClr val="EAF2FF"/>
                </a:solidFill>
                <a:highlight>
                  <a:srgbClr val="232730"/>
                </a:highlight>
                <a:latin typeface="Poppins"/>
                <a:ea typeface="Poppins"/>
                <a:cs typeface="Poppins"/>
                <a:sym typeface="Poppins"/>
              </a:rPr>
              <a:t>OpenAI-compatible REST API</a:t>
            </a:r>
            <a:r>
              <a:rPr lang="tr-TR" sz="1050">
                <a:solidFill>
                  <a:srgbClr val="949FAE"/>
                </a:solidFill>
                <a:highlight>
                  <a:srgbClr val="232730"/>
                </a:highlight>
                <a:latin typeface="Poppins"/>
                <a:ea typeface="Poppins"/>
                <a:cs typeface="Poppins"/>
                <a:sym typeface="Poppins"/>
              </a:rPr>
              <a:t> at the </a:t>
            </a:r>
            <a:r>
              <a:rPr lang="tr-TR" sz="1050">
                <a:solidFill>
                  <a:srgbClr val="ED5EA9"/>
                </a:solidFill>
                <a:latin typeface="Consolas"/>
                <a:ea typeface="Consolas"/>
                <a:cs typeface="Consolas"/>
                <a:sym typeface="Consolas"/>
              </a:rPr>
              <a:t>/v1</a:t>
            </a:r>
            <a:r>
              <a:rPr lang="tr-TR" sz="1050">
                <a:solidFill>
                  <a:srgbClr val="949FAE"/>
                </a:solidFill>
                <a:highlight>
                  <a:srgbClr val="232730"/>
                </a:highlight>
                <a:latin typeface="Poppins"/>
                <a:ea typeface="Poppins"/>
                <a:cs typeface="Poppins"/>
                <a:sym typeface="Poppins"/>
              </a:rPr>
              <a:t> path. This allows any application or tool that supports the OpenAI API format -- such as </a:t>
            </a:r>
            <a:r>
              <a:rPr lang="tr-TR" sz="1050">
                <a:solidFill>
                  <a:srgbClr val="3A82F6"/>
                </a:solidFill>
                <a:highlight>
                  <a:srgbClr val="232730"/>
                </a:highlight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AnythingLLM</a:t>
            </a:r>
            <a:r>
              <a:rPr lang="tr-TR" sz="1050">
                <a:solidFill>
                  <a:srgbClr val="949FAE"/>
                </a:solidFill>
                <a:highlight>
                  <a:srgbClr val="232730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tr-TR" sz="1050">
                <a:solidFill>
                  <a:srgbClr val="3A82F6"/>
                </a:solidFill>
                <a:highlight>
                  <a:srgbClr val="232730"/>
                </a:highlight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WebUI</a:t>
            </a:r>
            <a:r>
              <a:rPr lang="tr-TR" sz="1050">
                <a:solidFill>
                  <a:srgbClr val="949FAE"/>
                </a:solidFill>
                <a:highlight>
                  <a:srgbClr val="232730"/>
                </a:highlight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tr-TR" sz="1050">
                <a:solidFill>
                  <a:srgbClr val="3A82F6"/>
                </a:solidFill>
                <a:highlight>
                  <a:srgbClr val="232730"/>
                </a:highlight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Dify</a:t>
            </a:r>
            <a:r>
              <a:rPr lang="tr-TR" sz="1050">
                <a:solidFill>
                  <a:srgbClr val="949FAE"/>
                </a:solidFill>
                <a:highlight>
                  <a:srgbClr val="232730"/>
                </a:highlight>
                <a:latin typeface="Poppins"/>
                <a:ea typeface="Poppins"/>
                <a:cs typeface="Poppins"/>
                <a:sym typeface="Poppins"/>
              </a:rPr>
              <a:t>, or custom scripts using the OpenAI SDK -- to connect directly to your AI Management instance.</a:t>
            </a:r>
            <a:endParaRPr/>
          </a:p>
        </p:txBody>
      </p:sp>
      <p:sp>
        <p:nvSpPr>
          <p:cNvPr id="164" name="Google Shape;164;g3d1bc28d31f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1bc28d31f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1bc28d31f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f59958f75_1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af59958f75_1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İçerik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ölüm Üst Bilgisi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İki İçerik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rşılaştırma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alnızca Başlık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ş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İçerik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Resim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Dikey Metin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key Başlık ve Metin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hyperlink" Target="http://engincanveske.substack.com" TargetMode="External"/><Relationship Id="rId12" Type="http://schemas.openxmlformats.org/officeDocument/2006/relationships/hyperlink" Target="https://www.youtube.com/@engincanv" TargetMode="External"/><Relationship Id="rId9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hyperlink" Target="https://x.com/EngincanVeske" TargetMode="External"/><Relationship Id="rId8" Type="http://schemas.openxmlformats.org/officeDocument/2006/relationships/hyperlink" Target="https://github.com/EngincanV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hyperlink" Target="https://abp.io/docs/10.2/modules/ai-management#mcp-server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7159" y="1117902"/>
            <a:ext cx="2396886" cy="6425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117146" y="2349589"/>
            <a:ext cx="10345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5500"/>
              <a:buFont typeface="Lexend"/>
              <a:buNone/>
            </a:pPr>
            <a:r>
              <a:rPr b="1" lang="tr-TR" sz="49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MCP Servers &amp; OpenAI-Compatible Endpoints</a:t>
            </a:r>
            <a:endParaRPr sz="800"/>
          </a:p>
        </p:txBody>
      </p:sp>
      <p:sp>
        <p:nvSpPr>
          <p:cNvPr id="91" name="Google Shape;91;p13"/>
          <p:cNvSpPr txBox="1"/>
          <p:nvPr/>
        </p:nvSpPr>
        <p:spPr>
          <a:xfrm>
            <a:off x="2412548" y="4726909"/>
            <a:ext cx="6497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3"/>
              </a:buClr>
              <a:buSzPts val="2800"/>
              <a:buFont typeface="Poppins Medium"/>
              <a:buNone/>
            </a:pPr>
            <a:r>
              <a:rPr b="0" i="0" lang="tr-TR" sz="2800" u="none" cap="none" strike="noStrike">
                <a:solidFill>
                  <a:srgbClr val="292D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Engincan VESKE</a:t>
            </a:r>
            <a:endParaRPr b="0" i="0" sz="2800" u="none" cap="none" strike="noStrike">
              <a:solidFill>
                <a:srgbClr val="292D3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412548" y="5246836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5258"/>
              </a:buClr>
              <a:buSzPct val="100000"/>
              <a:buFont typeface="Poppins"/>
              <a:buNone/>
            </a:pPr>
            <a:r>
              <a:rPr b="0" i="0" lang="tr-TR" sz="1800" u="none" cap="none" strike="noStrike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rPr>
              <a:t>Software Engineer at Volosoft</a:t>
            </a:r>
            <a:endParaRPr b="0" i="0" sz="1800" u="none" cap="none" strike="noStrike">
              <a:solidFill>
                <a:srgbClr val="545C6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04" y="4539479"/>
            <a:ext cx="318353" cy="318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04" y="5009494"/>
            <a:ext cx="318352" cy="31835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6687101" y="4482473"/>
            <a:ext cx="5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3"/>
              </a:buClr>
              <a:buSzPts val="1500"/>
              <a:buFont typeface="Poppins"/>
              <a:buNone/>
            </a:pPr>
            <a:r>
              <a:rPr b="0" i="0" lang="tr-TR" sz="1500" u="none" cap="none" strike="noStrike">
                <a:solidFill>
                  <a:srgbClr val="4E5258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@EngincanVeske</a:t>
            </a:r>
            <a:endParaRPr b="0" i="0" sz="1500" u="none" cap="none" strike="noStrike">
              <a:solidFill>
                <a:srgbClr val="4E525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687101" y="4996455"/>
            <a:ext cx="5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3"/>
              </a:buClr>
              <a:buSzPts val="1500"/>
              <a:buFont typeface="Poppins"/>
              <a:buNone/>
            </a:pPr>
            <a:r>
              <a:rPr b="0" i="0" lang="tr-TR" sz="1500" u="none" cap="none" strike="noStrike">
                <a:solidFill>
                  <a:srgbClr val="4E5258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EngincanV</a:t>
            </a:r>
            <a:endParaRPr b="0" i="0" sz="1500" u="none" cap="none" strike="noStrike">
              <a:solidFill>
                <a:srgbClr val="4E525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7149" y="4666471"/>
            <a:ext cx="1040400" cy="102925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6280138" y="5520475"/>
            <a:ext cx="318300" cy="318300"/>
          </a:xfrm>
          <a:prstGeom prst="flowChartConnector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228388" y="5479525"/>
            <a:ext cx="42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✍️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6687101" y="5494980"/>
            <a:ext cx="5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3"/>
              </a:buClr>
              <a:buSzPts val="1500"/>
              <a:buFont typeface="Poppins"/>
              <a:buNone/>
            </a:pPr>
            <a:r>
              <a:rPr b="0" i="0" lang="tr-TR" sz="1500" u="none" cap="none" strike="noStrike">
                <a:solidFill>
                  <a:srgbClr val="4E5258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engincanveske.substack.com</a:t>
            </a:r>
            <a:endParaRPr b="0" i="0" sz="1500" u="none" cap="none" strike="noStrike">
              <a:solidFill>
                <a:srgbClr val="4E525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6280138" y="6031400"/>
            <a:ext cx="318300" cy="29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 title="yt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18975" y="6060488"/>
            <a:ext cx="240625" cy="24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6687101" y="5993505"/>
            <a:ext cx="5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3"/>
              </a:buClr>
              <a:buSzPts val="1500"/>
              <a:buFont typeface="Poppins"/>
              <a:buNone/>
            </a:pPr>
            <a:r>
              <a:rPr b="0" i="0" lang="tr-TR" sz="1500" u="sng" cap="none" strike="noStrike">
                <a:solidFill>
                  <a:srgbClr val="467886"/>
                </a:solidFill>
                <a:latin typeface="Poppins"/>
                <a:ea typeface="Poppins"/>
                <a:cs typeface="Poppins"/>
                <a:sym typeface="Poppi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@engincanv</a:t>
            </a:r>
            <a:endParaRPr b="0" i="0" sz="1500" u="none" cap="none" strike="noStrike">
              <a:solidFill>
                <a:srgbClr val="4E525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>
            <a:off x="457200" y="1371600"/>
            <a:ext cx="5394900" cy="3657600"/>
          </a:xfrm>
          <a:prstGeom prst="rect">
            <a:avLst/>
          </a:prstGeom>
          <a:solidFill>
            <a:srgbClr val="1E2430"/>
          </a:solidFill>
          <a:ln>
            <a:noFill/>
          </a:ln>
          <a:effectLst>
            <a:outerShdw blurRad="1524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457200" y="347472"/>
            <a:ext cx="11238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Lexend"/>
              <a:buNone/>
            </a:pPr>
            <a:r>
              <a:rPr b="1" i="0" lang="tr-TR" sz="3600" u="none" cap="none" strike="noStrike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AGENDA</a:t>
            </a:r>
            <a:endParaRPr b="0" i="0" sz="3600" u="none" cap="none" strike="noStrike">
              <a:solidFill>
                <a:srgbClr val="1E21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731520" y="1600200"/>
            <a:ext cx="137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0FF"/>
              </a:buClr>
              <a:buSzPts val="3200"/>
              <a:buFont typeface="Lexend"/>
              <a:buNone/>
            </a:pPr>
            <a:r>
              <a:rPr b="1" i="0" lang="tr-TR" sz="3200" u="none" cap="none" strike="noStrike">
                <a:solidFill>
                  <a:srgbClr val="C850FF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731520" y="2240280"/>
            <a:ext cx="493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Lexend"/>
              <a:buNone/>
            </a:pPr>
            <a:r>
              <a:rPr b="1" i="0" lang="tr-TR" sz="26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MCP Server</a:t>
            </a:r>
            <a:r>
              <a:rPr b="1" lang="tr-TR" sz="2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31520" y="2834640"/>
            <a:ext cx="4846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600"/>
              <a:buFont typeface="Poppins"/>
              <a:buNone/>
            </a:pPr>
            <a:r>
              <a:rPr b="0" i="0" lang="tr-TR" sz="1600" u="none" cap="none" strike="noStrike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Connect AI assistants directly to your ABP application via the Model Context Protocol.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36792" y="1371600"/>
            <a:ext cx="5394900" cy="3657600"/>
          </a:xfrm>
          <a:prstGeom prst="rect">
            <a:avLst/>
          </a:prstGeom>
          <a:solidFill>
            <a:srgbClr val="1E2430"/>
          </a:solidFill>
          <a:ln>
            <a:noFill/>
          </a:ln>
          <a:effectLst>
            <a:outerShdw blurRad="1524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6611112" y="1600200"/>
            <a:ext cx="137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Lexend"/>
              <a:buNone/>
            </a:pPr>
            <a:r>
              <a:rPr b="1" i="0" lang="tr-TR" sz="3200" u="none" cap="none" strike="noStrike">
                <a:solidFill>
                  <a:srgbClr val="FF3399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6611112" y="2240280"/>
            <a:ext cx="4937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Lexend"/>
              <a:buNone/>
            </a:pPr>
            <a:r>
              <a:rPr b="1" i="0" lang="tr-TR" sz="26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OpenAI-Compatible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Lexend"/>
              <a:buNone/>
            </a:pPr>
            <a:r>
              <a:rPr b="1" i="0" lang="tr-TR" sz="26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Endpoints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611112" y="3200400"/>
            <a:ext cx="4846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600"/>
              <a:buFont typeface="Poppins"/>
              <a:buNone/>
            </a:pPr>
            <a:r>
              <a:rPr b="0" i="0" lang="tr-TR" sz="1600" u="none" cap="none" strike="noStrike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Expose your ABP app as an OpenAI-spec API — drop-in replacement for any OpenAI client.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/>
        </p:nvSpPr>
        <p:spPr>
          <a:xfrm>
            <a:off x="455849" y="443517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36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Model Context Protocol (MCP)</a:t>
            </a:r>
            <a:endParaRPr sz="36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5" title="mcp-simple-dia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75" y="1091450"/>
            <a:ext cx="11968251" cy="467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title="mcp-architectu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5075" y="1041355"/>
            <a:ext cx="9021860" cy="540078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455849" y="443517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36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Architecture (Host/Server/Client)</a:t>
            </a:r>
            <a:endParaRPr sz="36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0146275" y="5817025"/>
            <a:ext cx="1675500" cy="70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455849" y="443517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36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So… Where Does ABP Fit in This Picture?</a:t>
            </a:r>
            <a:endParaRPr sz="36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0146275" y="5817025"/>
            <a:ext cx="1675500" cy="70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7" title="mcp-architecture-updat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625" y="1242404"/>
            <a:ext cx="9220733" cy="5400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1734313" y="1851633"/>
            <a:ext cx="914400" cy="914400"/>
          </a:xfrm>
          <a:prstGeom prst="ellipse">
            <a:avLst/>
          </a:prstGeom>
          <a:solidFill>
            <a:srgbClr val="1E2430"/>
          </a:solidFill>
          <a:ln cap="flat" cmpd="sng" w="31750">
            <a:solidFill>
              <a:srgbClr val="C85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638801" y="1851633"/>
            <a:ext cx="914400" cy="914400"/>
          </a:xfrm>
          <a:prstGeom prst="ellipse">
            <a:avLst/>
          </a:prstGeom>
          <a:solidFill>
            <a:srgbClr val="1E2430"/>
          </a:solidFill>
          <a:ln cap="flat" cmpd="sng" w="31750">
            <a:solidFill>
              <a:srgbClr val="C85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9543289" y="1851633"/>
            <a:ext cx="914400" cy="914400"/>
          </a:xfrm>
          <a:prstGeom prst="ellipse">
            <a:avLst/>
          </a:prstGeom>
          <a:solidFill>
            <a:srgbClr val="1E2430"/>
          </a:solidFill>
          <a:ln cap="flat" cmpd="sng" w="31750">
            <a:solidFill>
              <a:srgbClr val="C85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457200" y="347472"/>
            <a:ext cx="11238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Lexend"/>
              <a:buNone/>
            </a:pPr>
            <a:r>
              <a:rPr b="1" i="0" lang="tr-TR" sz="3600" u="none" cap="none" strike="noStrike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HOW IT WORKS?</a:t>
            </a:r>
            <a:endParaRPr b="0" i="0" sz="3600" u="none" cap="none" strike="noStrike">
              <a:solidFill>
                <a:srgbClr val="1E21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1734313" y="1851633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0FF"/>
              </a:buClr>
              <a:buSzPts val="2800"/>
              <a:buFont typeface="Lexend"/>
              <a:buNone/>
            </a:pPr>
            <a:r>
              <a:rPr b="1" i="0" lang="tr-TR" sz="2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62713" y="2948913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exend"/>
              <a:buNone/>
            </a:pPr>
            <a:r>
              <a:rPr b="1" lang="tr-TR" sz="22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Create &amp;</a:t>
            </a:r>
            <a:endParaRPr b="1" sz="22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exend"/>
              <a:buNone/>
            </a:pPr>
            <a:r>
              <a:rPr b="1" lang="tr-TR" sz="22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Test Connection</a:t>
            </a:r>
            <a:endParaRPr b="0" i="0" sz="2200" u="none" cap="none" strike="noStrike">
              <a:solidFill>
                <a:srgbClr val="1E21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62713" y="3543273"/>
            <a:ext cx="3657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600"/>
              <a:buFont typeface="Poppins"/>
              <a:buNone/>
            </a:pPr>
            <a:r>
              <a:rPr lang="tr-TR" sz="1600">
                <a:solidFill>
                  <a:srgbClr val="FF3399"/>
                </a:solidFill>
                <a:latin typeface="Poppins"/>
                <a:ea typeface="Poppins"/>
                <a:cs typeface="Poppins"/>
                <a:sym typeface="Poppins"/>
              </a:rPr>
              <a:t>Create a new MCP Server &amp; list available tools (test connection)</a:t>
            </a:r>
            <a:endParaRPr b="0" i="0" sz="1600" u="none" cap="none" strike="noStrike">
              <a:solidFill>
                <a:srgbClr val="FF3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18"/>
          <p:cNvCxnSpPr/>
          <p:nvPr/>
        </p:nvCxnSpPr>
        <p:spPr>
          <a:xfrm>
            <a:off x="4130041" y="2308833"/>
            <a:ext cx="365700" cy="0"/>
          </a:xfrm>
          <a:prstGeom prst="straightConnector1">
            <a:avLst/>
          </a:prstGeom>
          <a:noFill/>
          <a:ln cap="flat" cmpd="sng" w="19050">
            <a:solidFill>
              <a:srgbClr val="B1B8C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9" name="Google Shape;149;p18"/>
          <p:cNvSpPr/>
          <p:nvPr/>
        </p:nvSpPr>
        <p:spPr>
          <a:xfrm>
            <a:off x="5638801" y="1851633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0FF"/>
              </a:buClr>
              <a:buSzPts val="2800"/>
              <a:buFont typeface="Lexend"/>
              <a:buNone/>
            </a:pPr>
            <a:r>
              <a:rPr b="1" i="0" lang="tr-TR" sz="2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267200" y="2948913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exend"/>
              <a:buNone/>
            </a:pPr>
            <a:r>
              <a:rPr b="1" i="0" lang="tr-TR" sz="2200" u="none" cap="none" strike="noStrike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Connect</a:t>
            </a:r>
            <a:endParaRPr b="0" i="0" sz="2200" u="none" cap="none" strike="noStrike">
              <a:solidFill>
                <a:srgbClr val="1E21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267200" y="3543273"/>
            <a:ext cx="3657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600"/>
              <a:buFont typeface="Poppins"/>
              <a:buNone/>
            </a:pPr>
            <a:r>
              <a:rPr lang="tr-TR" sz="1600">
                <a:solidFill>
                  <a:srgbClr val="FF3399"/>
                </a:solidFill>
                <a:latin typeface="Poppins"/>
                <a:ea typeface="Poppins"/>
                <a:cs typeface="Poppins"/>
                <a:sym typeface="Poppins"/>
              </a:rPr>
              <a:t>Connect MCP Servers with the relevant workspaces</a:t>
            </a:r>
            <a:endParaRPr b="0" i="0" sz="1600" u="none" cap="none" strike="noStrike">
              <a:solidFill>
                <a:srgbClr val="FF3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8"/>
          <p:cNvCxnSpPr/>
          <p:nvPr/>
        </p:nvCxnSpPr>
        <p:spPr>
          <a:xfrm>
            <a:off x="8034529" y="2308833"/>
            <a:ext cx="365700" cy="0"/>
          </a:xfrm>
          <a:prstGeom prst="straightConnector1">
            <a:avLst/>
          </a:prstGeom>
          <a:noFill/>
          <a:ln cap="flat" cmpd="sng" w="19050">
            <a:solidFill>
              <a:srgbClr val="B1B8C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3" name="Google Shape;153;p18"/>
          <p:cNvSpPr/>
          <p:nvPr/>
        </p:nvSpPr>
        <p:spPr>
          <a:xfrm>
            <a:off x="9543289" y="1851633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0FF"/>
              </a:buClr>
              <a:buSzPts val="2800"/>
              <a:buFont typeface="Lexend"/>
              <a:buNone/>
            </a:pPr>
            <a:r>
              <a:rPr b="1" i="0" lang="tr-TR" sz="2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8171689" y="2948913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Lexend"/>
              <a:buNone/>
            </a:pPr>
            <a:r>
              <a:rPr b="1" lang="tr-TR" sz="22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Use</a:t>
            </a:r>
            <a:endParaRPr b="0" i="0" sz="2200" u="none" cap="none" strike="noStrike">
              <a:solidFill>
                <a:srgbClr val="1E21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8171689" y="3543273"/>
            <a:ext cx="3657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600"/>
              <a:buFont typeface="Poppins"/>
              <a:buNone/>
            </a:pPr>
            <a:r>
              <a:rPr lang="tr-TR" sz="1600">
                <a:solidFill>
                  <a:srgbClr val="FF3399"/>
                </a:solidFill>
                <a:latin typeface="Poppins"/>
                <a:ea typeface="Poppins"/>
                <a:cs typeface="Poppins"/>
                <a:sym typeface="Poppins"/>
              </a:rPr>
              <a:t>Test it in the chat playground or consume it in your system directly</a:t>
            </a:r>
            <a:endParaRPr b="0" i="0" sz="1600" u="none" cap="none" strike="noStrike">
              <a:solidFill>
                <a:srgbClr val="FF3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434862" y="5898522"/>
            <a:ext cx="7943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900"/>
              <a:t>Docs:</a:t>
            </a:r>
            <a:r>
              <a:rPr lang="tr-TR" sz="1900"/>
              <a:t> </a:t>
            </a:r>
            <a:r>
              <a:rPr lang="tr-TR" sz="1900" u="sng">
                <a:solidFill>
                  <a:schemeClr val="hlink"/>
                </a:solidFill>
                <a:hlinkClick r:id="rId4"/>
              </a:rPr>
              <a:t>https://abp.io/docs/10.2/modules/ai-management#mcp-servers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/>
        </p:nvSpPr>
        <p:spPr>
          <a:xfrm>
            <a:off x="0" y="2672100"/>
            <a:ext cx="12192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47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Demo: Connecting MCP Servers &amp; Workspaces</a:t>
            </a:r>
            <a:endParaRPr sz="47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/>
        </p:nvSpPr>
        <p:spPr>
          <a:xfrm>
            <a:off x="455849" y="443517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36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OpenAI-Compatible Endpoints Exposure</a:t>
            </a:r>
            <a:endParaRPr sz="36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55850" y="960225"/>
            <a:ext cx="11240100" cy="5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The AI Management Module exposes an </a:t>
            </a:r>
            <a:r>
              <a:rPr b="1" lang="tr-TR" sz="18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b="1" lang="tr-TR" sz="18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penAI-compatible </a:t>
            </a:r>
            <a:r>
              <a:rPr lang="tr-TR" sz="18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REST API at the </a:t>
            </a:r>
            <a:r>
              <a:rPr lang="tr-TR" sz="1800">
                <a:solidFill>
                  <a:srgbClr val="ED5EA9"/>
                </a:solidFill>
                <a:latin typeface="Consolas"/>
                <a:ea typeface="Consolas"/>
                <a:cs typeface="Consolas"/>
                <a:sym typeface="Consolas"/>
              </a:rPr>
              <a:t>/v1 </a:t>
            </a:r>
            <a:r>
              <a:rPr lang="tr-TR" sz="1800">
                <a:solidFill>
                  <a:srgbClr val="555F73"/>
                </a:solidFill>
                <a:latin typeface="Poppins"/>
                <a:ea typeface="Poppins"/>
                <a:cs typeface="Poppins"/>
                <a:sym typeface="Poppins"/>
              </a:rPr>
              <a:t>path. This allows any application or tool that supports OpenAI API format (e.g. AnythingLLM, Dify etc.) to connect directly to your AI Management instance.</a:t>
            </a:r>
            <a:endParaRPr sz="1800">
              <a:solidFill>
                <a:srgbClr val="555F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50" y="580650"/>
            <a:ext cx="9408232" cy="56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/>
        </p:nvSpPr>
        <p:spPr>
          <a:xfrm>
            <a:off x="455849" y="443517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36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AnythingLLM</a:t>
            </a:r>
            <a:endParaRPr sz="36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1" title="anythingllm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000" y="1152417"/>
            <a:ext cx="10778945" cy="5400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/>
        </p:nvSpPr>
        <p:spPr>
          <a:xfrm>
            <a:off x="475949" y="3074542"/>
            <a:ext cx="11240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127"/>
              </a:buClr>
              <a:buSzPts val="3600"/>
              <a:buFont typeface="Lexend"/>
              <a:buNone/>
            </a:pPr>
            <a:r>
              <a:rPr b="1" lang="tr-TR" sz="4800">
                <a:solidFill>
                  <a:srgbClr val="1E2127"/>
                </a:solidFill>
                <a:latin typeface="Lexend"/>
                <a:ea typeface="Lexend"/>
                <a:cs typeface="Lexend"/>
                <a:sym typeface="Lexend"/>
              </a:rPr>
              <a:t>DEMO: AnythingLLM Setup</a:t>
            </a:r>
            <a:endParaRPr sz="4800">
              <a:solidFill>
                <a:srgbClr val="1E212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/>
        </p:nvSpPr>
        <p:spPr>
          <a:xfrm>
            <a:off x="0" y="2990400"/>
            <a:ext cx="12192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4500">
                <a:solidFill>
                  <a:srgbClr val="292D32"/>
                </a:solidFill>
                <a:latin typeface="Lexend"/>
                <a:ea typeface="Lexend"/>
                <a:cs typeface="Lexend"/>
                <a:sym typeface="Lexend"/>
              </a:rPr>
              <a:t>Thanks for listening!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