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  <p:embeddedFont>
      <p:font typeface="Poppins"/>
      <p:regular r:id="rId17"/>
      <p:bold r:id="rId18"/>
      <p:italic r:id="rId19"/>
      <p:boldItalic r:id="rId20"/>
    </p:embeddedFont>
    <p:embeddedFont>
      <p:font typeface="Poppins Medium"/>
      <p:regular r:id="rId21"/>
      <p:bold r:id="rId22"/>
      <p:italic r:id="rId23"/>
      <p:boldItalic r:id="rId24"/>
    </p:embeddedFont>
    <p:embeddedFont>
      <p:font typeface="Quattrocento Sans"/>
      <p:regular r:id="rId25"/>
      <p:bold r:id="rId26"/>
      <p:italic r:id="rId27"/>
      <p:boldItalic r:id="rId28"/>
    </p:embeddedFont>
    <p:embeddedFont>
      <p:font typeface="Lexend"/>
      <p:regular r:id="rId29"/>
      <p:bold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PoppinsMedium-bold.fntdata"/><Relationship Id="rId21" Type="http://schemas.openxmlformats.org/officeDocument/2006/relationships/font" Target="fonts/PoppinsMedium-regular.fntdata"/><Relationship Id="rId24" Type="http://schemas.openxmlformats.org/officeDocument/2006/relationships/font" Target="fonts/PoppinsMedium-boldItalic.fntdata"/><Relationship Id="rId23" Type="http://schemas.openxmlformats.org/officeDocument/2006/relationships/font" Target="fonts/Poppins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exen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SemiBold-regular.fntdata"/><Relationship Id="rId30" Type="http://schemas.openxmlformats.org/officeDocument/2006/relationships/font" Target="fonts/Lexend-bold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6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PoppinsSemiBold-boldItalic.fntdata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schemas.openxmlformats.org/officeDocument/2006/relationships/font" Target="fonts/Poppins-regular.fntdata"/><Relationship Id="rId16" Type="http://schemas.openxmlformats.org/officeDocument/2006/relationships/font" Target="fonts/Play-bold.fntdata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tr-T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4fc1dfdf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af4fc1dfdf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4fc1dfdf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f4fc1dfdf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4fc1dfdf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>
                <a:solidFill>
                  <a:srgbClr val="FFFFFF"/>
                </a:solidFill>
                <a:highlight>
                  <a:srgbClr val="1F1F1F"/>
                </a:highlight>
              </a:rPr>
              <a:t>Individual agents that use LLMs to process user inputs, call tools and MCP servers to perform actions, and generate responses.</a:t>
            </a:r>
            <a:endParaRPr/>
          </a:p>
        </p:txBody>
      </p:sp>
      <p:sp>
        <p:nvSpPr>
          <p:cNvPr id="135" name="Google Shape;135;g3af4fc1dfdf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59958f75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f59958f75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f59958f75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>
                <a:solidFill>
                  <a:srgbClr val="FFFFFF"/>
                </a:solidFill>
                <a:highlight>
                  <a:srgbClr val="1F1F1F"/>
                </a:highlight>
              </a:rPr>
              <a:t>Graph-based workflows that connect multiple agents and functions to perform complex, multi-step tasks.</a:t>
            </a:r>
            <a:endParaRPr/>
          </a:p>
        </p:txBody>
      </p:sp>
      <p:sp>
        <p:nvSpPr>
          <p:cNvPr id="149" name="Google Shape;149;g3af59958f75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f59958f75_1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>
                <a:solidFill>
                  <a:srgbClr val="FFFFFF"/>
                </a:solidFill>
                <a:highlight>
                  <a:srgbClr val="1F1F1F"/>
                </a:highlight>
              </a:rPr>
              <a:t>Graph-based workflows that connect multiple agents and functions to perform complex, multi-step tasks.</a:t>
            </a:r>
            <a:endParaRPr/>
          </a:p>
        </p:txBody>
      </p:sp>
      <p:sp>
        <p:nvSpPr>
          <p:cNvPr id="155" name="Google Shape;155;g3af59958f75_1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f59958f75_1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f59958f75_1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f59958f75_1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f59958f75_1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 Bilgisi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11" Type="http://schemas.openxmlformats.org/officeDocument/2006/relationships/image" Target="../media/image9.png"/><Relationship Id="rId10" Type="http://schemas.openxmlformats.org/officeDocument/2006/relationships/hyperlink" Target="http://engincanveske.substack.com" TargetMode="External"/><Relationship Id="rId12" Type="http://schemas.openxmlformats.org/officeDocument/2006/relationships/hyperlink" Target="https://www.youtube.com/@engincanv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hyperlink" Target="https://x.com/EngincanVeske" TargetMode="External"/><Relationship Id="rId8" Type="http://schemas.openxmlformats.org/officeDocument/2006/relationships/hyperlink" Target="https://github.com/EngincanV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hyperlink" Target="https://github.com/EngincanV/samples/tree/main/IssueCopilotDem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hyperlink" Target="https://github.com/EngincanV/samples/tree/main/ReleaseNotesWorkflowDem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159" y="1117902"/>
            <a:ext cx="2396886" cy="6425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117146" y="2743977"/>
            <a:ext cx="10345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5500"/>
              <a:buFont typeface="Lexend"/>
              <a:buNone/>
            </a:pPr>
            <a:r>
              <a:rPr b="1" lang="tr-TR" sz="55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Microsoft Agent Framework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412548" y="4726909"/>
            <a:ext cx="6497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2800"/>
              <a:buFont typeface="Poppins Medium"/>
              <a:buNone/>
            </a:pPr>
            <a:r>
              <a:rPr b="0" i="0" lang="tr-TR" sz="2800" u="none" cap="none" strike="noStrike">
                <a:solidFill>
                  <a:srgbClr val="292D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Engincan VESKE</a:t>
            </a:r>
            <a:endParaRPr b="0" i="0" sz="2800" u="none" cap="none" strike="noStrike">
              <a:solidFill>
                <a:srgbClr val="292D3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412548" y="5246836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5258"/>
              </a:buClr>
              <a:buSzPct val="100000"/>
              <a:buFont typeface="Poppins"/>
              <a:buNone/>
            </a:pPr>
            <a:r>
              <a:rPr b="0" i="0" lang="tr-TR" sz="1800" u="none" cap="none" strike="noStrike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Software Engineer at Volosoft</a:t>
            </a:r>
            <a:endParaRPr b="0" i="0" sz="1800" u="none" cap="none" strike="noStrike">
              <a:solidFill>
                <a:srgbClr val="545C6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04" y="4539479"/>
            <a:ext cx="318353" cy="318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04" y="5009494"/>
            <a:ext cx="318352" cy="31835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6687101" y="4482473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none" cap="none" strike="noStrike">
                <a:solidFill>
                  <a:srgbClr val="4E5258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@EngincanVeske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687101" y="4996455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none" cap="none" strike="noStrike">
                <a:solidFill>
                  <a:srgbClr val="4E5258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EngincanV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7149" y="4666471"/>
            <a:ext cx="1040400" cy="102925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6280138" y="5520475"/>
            <a:ext cx="318300" cy="318300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228388" y="5479525"/>
            <a:ext cx="42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✍️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687101" y="5494980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none" cap="none" strike="noStrike">
                <a:solidFill>
                  <a:srgbClr val="4E5258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engincanveske.substack.com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280138" y="6031400"/>
            <a:ext cx="318300" cy="29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 title="yt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18975" y="6060488"/>
            <a:ext cx="240625" cy="2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6687101" y="5993505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sng" cap="none" strike="noStrike">
                <a:solidFill>
                  <a:srgbClr val="467886"/>
                </a:solidFill>
                <a:latin typeface="Poppins"/>
                <a:ea typeface="Poppins"/>
                <a:cs typeface="Poppins"/>
                <a:sym typeface="Poppi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@engincanv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Agenda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55846" y="1161259"/>
            <a:ext cx="11240100" cy="46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F73"/>
              </a:buClr>
              <a:buSzPts val="3000"/>
              <a:buFont typeface="Poppins"/>
              <a:buChar char="•"/>
            </a:pPr>
            <a:r>
              <a:rPr lang="tr-TR" sz="30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Core Concepts &amp; Building Blocks</a:t>
            </a:r>
            <a:endParaRPr sz="30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F73"/>
              </a:buClr>
              <a:buSzPts val="3000"/>
              <a:buFont typeface="Poppins"/>
              <a:buChar char="•"/>
            </a:pPr>
            <a:r>
              <a:rPr lang="tr-TR" sz="30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Agents</a:t>
            </a:r>
            <a:endParaRPr sz="30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F73"/>
              </a:buClr>
              <a:buSzPts val="3000"/>
              <a:buFont typeface="Poppins"/>
              <a:buChar char="•"/>
            </a:pPr>
            <a:r>
              <a:rPr lang="tr-TR" sz="30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Workflows</a:t>
            </a:r>
            <a:endParaRPr sz="30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F73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DEMOs </a:t>
            </a:r>
            <a:r>
              <a:rPr lang="tr-TR" sz="18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(with MCP tool usages, state-management with AgentThread, and workflows…)</a:t>
            </a:r>
            <a:endParaRPr b="0" i="0" sz="1800" u="none" cap="none" strike="noStrike">
              <a:solidFill>
                <a:srgbClr val="555F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455849" y="488763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Core Concepts &amp; Building Blocks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000" y="1514790"/>
            <a:ext cx="5372101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3850" y="1514790"/>
            <a:ext cx="5372101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000" y="4238940"/>
            <a:ext cx="5372101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23850" y="4238940"/>
            <a:ext cx="5372101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62250" y="1762440"/>
            <a:ext cx="537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	</a:t>
            </a:r>
            <a:r>
              <a:rPr b="0" i="0" lang="tr-TR" sz="19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3650" y="2610165"/>
            <a:ext cx="4876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650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Agents</a:t>
            </a:r>
            <a:r>
              <a:rPr lang="tr-TR" sz="1650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are systems that combine reasoning, context and tools to pursue objectives.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320100" y="1762440"/>
            <a:ext cx="537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	</a:t>
            </a:r>
            <a:r>
              <a:rPr b="0" i="0" lang="tr-TR" sz="19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71500" y="2610165"/>
            <a:ext cx="487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650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Workflows</a:t>
            </a:r>
            <a:r>
              <a:rPr lang="tr-TR" sz="1650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structure complex objectives into sequences of steps, coordinating tasks across people or systems to reach a goal efficiently.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2250" y="4486590"/>
            <a:ext cx="537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	State Management (AgentThread)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3650" y="5163968"/>
            <a:ext cx="487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650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AgentThread</a:t>
            </a:r>
            <a:r>
              <a:rPr lang="tr-TR" sz="1650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the state manager that carries an agent’s conversation history so it can reason consistently across turns.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320100" y="4486590"/>
            <a:ext cx="537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	</a:t>
            </a:r>
            <a:r>
              <a:rPr b="0" i="0" lang="tr-TR" sz="19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/ Plugins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71500" y="5163968"/>
            <a:ext cx="4876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-TR" sz="165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capabilities. Functions or MCP Servers that allow agents to interact with the real world.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3650" y="17624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1500" y="176244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3650" y="448659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1500" y="448659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404900" y="1586040"/>
            <a:ext cx="63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300"/>
              <a:t>⭐</a:t>
            </a:r>
            <a:endParaRPr sz="2300"/>
          </a:p>
        </p:txBody>
      </p:sp>
      <p:sp>
        <p:nvSpPr>
          <p:cNvPr id="132" name="Google Shape;132;p15"/>
          <p:cNvSpPr txBox="1"/>
          <p:nvPr/>
        </p:nvSpPr>
        <p:spPr>
          <a:xfrm>
            <a:off x="11120700" y="1586050"/>
            <a:ext cx="57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300"/>
              <a:t>⭐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Core Concepts: Agents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6" title="ag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450" y="1298449"/>
            <a:ext cx="8251400" cy="464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7865050" y="1806142"/>
            <a:ext cx="40740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75">
                <a:solidFill>
                  <a:srgbClr val="555F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Individual agents that use LLMs to process user inputs, make decisions, call tools and MCP servers to perform actions, and generate responses.</a:t>
            </a:r>
            <a:endParaRPr sz="1575">
              <a:solidFill>
                <a:srgbClr val="555F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555F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328612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F73"/>
              </a:buClr>
              <a:buSzPts val="1575"/>
              <a:buChar char="●"/>
            </a:pPr>
            <a:r>
              <a:rPr b="1" lang="tr-TR" sz="1575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Agents</a:t>
            </a:r>
            <a:r>
              <a:rPr lang="tr-TR" sz="1575">
                <a:solidFill>
                  <a:srgbClr val="555F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are wrappers around ChatClient.</a:t>
            </a:r>
            <a:endParaRPr sz="1575">
              <a:solidFill>
                <a:srgbClr val="555F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328612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F73"/>
              </a:buClr>
              <a:buSzPts val="1575"/>
              <a:buFont typeface="Poppins SemiBold"/>
              <a:buChar char="●"/>
            </a:pPr>
            <a:r>
              <a:rPr lang="tr-TR" sz="1575">
                <a:solidFill>
                  <a:srgbClr val="555F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They support </a:t>
            </a:r>
            <a:r>
              <a:rPr b="1" lang="tr-TR" sz="1575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r>
              <a:rPr lang="tr-TR" sz="1575">
                <a:solidFill>
                  <a:srgbClr val="555F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and </a:t>
            </a:r>
            <a:r>
              <a:rPr b="1" lang="tr-TR" sz="1575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structured </a:t>
            </a:r>
            <a:r>
              <a:rPr lang="tr-TR" sz="1575">
                <a:solidFill>
                  <a:srgbClr val="555F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outputs.</a:t>
            </a:r>
            <a:endParaRPr sz="1575">
              <a:solidFill>
                <a:srgbClr val="555F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44" name="Google Shape;144;p17"/>
          <p:cNvGrpSpPr/>
          <p:nvPr/>
        </p:nvGrpSpPr>
        <p:grpSpPr>
          <a:xfrm>
            <a:off x="550250" y="1894450"/>
            <a:ext cx="6865100" cy="3157396"/>
            <a:chOff x="550250" y="1894450"/>
            <a:chExt cx="6865100" cy="3157396"/>
          </a:xfrm>
        </p:grpSpPr>
        <p:pic>
          <p:nvPicPr>
            <p:cNvPr id="145" name="Google Shape;145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0250" y="1894450"/>
              <a:ext cx="6865100" cy="3157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4525" y="3387317"/>
              <a:ext cx="3181350" cy="276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Core Concepts: Workflows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" name="Google Shape;152;p18" title="writer-editor-work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50" y="1402174"/>
            <a:ext cx="8543424" cy="480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9"/>
          <p:cNvGrpSpPr/>
          <p:nvPr/>
        </p:nvGrpSpPr>
        <p:grpSpPr>
          <a:xfrm>
            <a:off x="9292224" y="1538288"/>
            <a:ext cx="1730126" cy="3781425"/>
            <a:chOff x="8083599" y="2419350"/>
            <a:chExt cx="1730126" cy="3781425"/>
          </a:xfrm>
        </p:grpSpPr>
        <p:pic>
          <p:nvPicPr>
            <p:cNvPr descr="image.png" id="158" name="Google Shape;15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81838" y="2419350"/>
              <a:ext cx="1333500" cy="49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59" name="Google Shape;159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85100" y="3514725"/>
              <a:ext cx="1526976" cy="49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60" name="Google Shape;160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83599" y="4610100"/>
              <a:ext cx="1730126" cy="49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61" name="Google Shape;161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281838" y="5705475"/>
              <a:ext cx="1333500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9"/>
            <p:cNvSpPr txBox="1"/>
            <p:nvPr/>
          </p:nvSpPr>
          <p:spPr>
            <a:xfrm>
              <a:off x="8900963" y="3105150"/>
              <a:ext cx="95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tr-TR" sz="1500" u="none" cap="none" strike="noStrike">
                  <a:solidFill>
                    <a:srgbClr val="66666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↓</a:t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8900963" y="4200525"/>
              <a:ext cx="95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tr-TR" sz="1500" u="none" cap="none" strike="noStrike">
                  <a:solidFill>
                    <a:srgbClr val="66666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↓</a:t>
              </a:r>
              <a:endParaRPr/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8900963" y="5295900"/>
              <a:ext cx="95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tr-TR" sz="1500" u="none" cap="none" strike="noStrike">
                  <a:solidFill>
                    <a:srgbClr val="66666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↓</a:t>
              </a:r>
              <a:endParaRPr/>
            </a:p>
          </p:txBody>
        </p:sp>
      </p:grpSp>
      <p:pic>
        <p:nvPicPr>
          <p:cNvPr id="165" name="Google Shape;16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5250" y="1528754"/>
            <a:ext cx="76581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ct val="1000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DEMO: MCP Usage &amp; State Management with AgentThread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55850" y="1161250"/>
            <a:ext cx="11240100" cy="5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1-) MCP Integration</a:t>
            </a:r>
            <a:r>
              <a:rPr b="1"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 Connects to Github’s MCP Server using </a:t>
            </a:r>
            <a:r>
              <a:rPr b="1" lang="tr-TR" sz="1700">
                <a:solidFill>
                  <a:srgbClr val="8E7CC3"/>
                </a:solidFill>
                <a:latin typeface="Poppins"/>
                <a:ea typeface="Poppins"/>
                <a:cs typeface="Poppins"/>
                <a:sym typeface="Poppins"/>
              </a:rPr>
              <a:t>@modelcontextprotocol/server-github</a:t>
            </a:r>
            <a:r>
              <a:rPr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 NPM package. The agent automatically discovers all available Github tools (commits, issues, PRs) and uses them dynamically (no manuel tool definition needed).</a:t>
            </a:r>
            <a:endParaRPr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2-) AgentThread for State Management: </a:t>
            </a:r>
            <a:r>
              <a:rPr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Maintains conversation context across multiple queries. It answers directly from memory without making another Github API Call, or any other tool calls!</a:t>
            </a:r>
            <a:endParaRPr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Source Code:</a:t>
            </a:r>
            <a:r>
              <a:rPr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tr-TR" sz="17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https://github.com/EngincanV/samples/tree/main/IssueCopilotDemo</a:t>
            </a:r>
            <a:endParaRPr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DEMO: Release Notes Workflow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55850" y="1161248"/>
            <a:ext cx="11240100" cy="5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25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1-) Writer Agent:</a:t>
            </a:r>
            <a:r>
              <a:rPr lang="tr-TR" sz="25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 Technical Release Notes Writer</a:t>
            </a:r>
            <a:endParaRPr sz="25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25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2-) Reviewer Agent (Marketing Agent)</a:t>
            </a:r>
            <a:r>
              <a:rPr lang="tr-TR" sz="25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tr-TR" sz="25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Polishes</a:t>
            </a:r>
            <a:r>
              <a:rPr lang="tr-TR" sz="25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 the technical release notes and makes it customer-friendly!</a:t>
            </a:r>
            <a:endParaRPr sz="25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7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Source Code:</a:t>
            </a:r>
            <a:r>
              <a:rPr lang="tr-TR" sz="22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tr-TR" sz="17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https://github.com/EngincanV/samples/tree/main/ReleaseNotesWorkflowDemo</a:t>
            </a:r>
            <a:endParaRPr sz="17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0" y="2990400"/>
            <a:ext cx="1219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4500">
                <a:solidFill>
                  <a:srgbClr val="292D32"/>
                </a:solidFill>
                <a:latin typeface="Lexend"/>
                <a:ea typeface="Lexend"/>
                <a:cs typeface="Lexend"/>
                <a:sym typeface="Lexend"/>
              </a:rPr>
              <a:t>Thanks for listening!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